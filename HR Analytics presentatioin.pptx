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7" r:id="rId9"/>
    <p:sldId id="266" r:id="rId10"/>
    <p:sldId id="265" r:id="rId11"/>
    <p:sldId id="264" r:id="rId12"/>
    <p:sldId id="262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563C-4FA0-12B1-C21C-1DFD52B54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329A9-6F20-1805-99C8-CAE7AD3A6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209FD-43A1-D970-97BA-817438E48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E4D9E-9342-A029-0BBA-91E02AFF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EDAE9-5DA6-57BF-66E4-CB2FC464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99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7160-611A-10F2-8F89-9CFA1514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7E5A-49E8-31A1-C107-AE569B5AB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C9CE9-1E67-6568-7AED-BD47D70F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B109E-6BC2-D916-EC8D-ADB95305C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4332-F814-21F1-E863-F03256BD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9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1117-A67B-ACDD-050F-A75B16A0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E6D37-0C1E-CDC3-B097-C9D51CBD8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0A397-84CF-C300-5154-66C8F0F8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C6087-8C01-7EAF-AB97-997FD680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7B9B7-B067-7024-7026-D135A79B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41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395B-2FD3-EA77-E3A8-4E436B26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3E4D-AA6A-2B65-27AC-38EE8A3F3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297F5-5778-93E1-65FF-BCDE83EB8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24015-C88F-0B52-87BC-0D5F844D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ACA98-66F4-5C2B-D6EE-607AE8E9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88D19-41C6-651E-7C6E-E607AFD4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88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066F-39E2-2647-3321-F02391FD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1D814-1959-1857-8FE0-ABA8D2550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D7640-C6C7-CE2A-FCF8-9C5BDE614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0FC3B-A90E-87F0-B7EE-CE280424B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3EDCB-FE32-FADE-ECFB-0F4D6984B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AB35C4-5E1C-C12F-3563-5FD6572F6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7D601-80E5-8581-E754-5932F316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014A0-A8FC-8089-2091-9488784A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5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2E34-2938-CCE8-5A2B-A8AA3C12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D9B5C-B922-45C2-6B29-8374EC9C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CD80B-1B23-F710-947D-8C026A21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34079-E8BE-1731-A98F-B067ECB1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206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0476F-CCAF-7106-4CFE-620FAF84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B280D-867F-D2DD-58EE-C5033F3C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E14C7-51CF-383F-3126-A66F7889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3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A805-D456-2EB9-9D18-14A5DE1F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BFE7B-5772-1FFB-FE95-E4CE59C4B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DD444-FD4D-5384-881F-AAE203E58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1326C-4B0E-BD04-1AC0-B4C58A19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8E308-4C24-8D31-C8A8-7EAC7EFD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5B8FD-DF0F-4C02-CC79-570719877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58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2C87-20B9-5EE9-D0CF-112AA4F0C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9A7BD-1CFD-9E20-3976-01512D3D1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C0484-51D8-A702-9E27-B2E9B98E0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395E1-69DF-C15F-1FAC-3B7B24C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47477-3FCA-D80C-523B-7A8AD035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224A7-3E93-563C-57B6-FF2E38FA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46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089D-663B-B1B1-8B69-D78AAD06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F0CF5-F9CA-8A3D-B804-B7E6C08A1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C42F6-2E56-DE55-5601-73174B51D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85BB-18FA-A9AD-7091-AEA4109A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2AAC0-8C77-C048-79E2-79FB93E9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81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C88B3-E7DB-8D19-184A-81087D4A8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639E1-7FF7-F2A9-5F6F-058CEEF9C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2FB8A-CE34-380A-3F8D-256061A7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FE70E-E792-9D6B-1647-701C3783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2D13-7EA2-C23C-BAAD-2CDE5820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78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6F85C-C61F-E5F3-E604-63CD6D70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EBE88-30C2-036A-FB1D-16D08E6C0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F1FDA-5901-DF0E-AE6B-6EE725127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81A26-E9B6-492F-98EA-64CCB71F7E9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F4D6C-A7BD-12F8-DEAB-3688A8EC4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04837-A636-6DED-D1B1-C73A15C3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9C965-5524-4E53-B0C7-DD148A906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12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F992-C1E7-87BC-23EE-91B6DEB88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HR Analytics Assignment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92958-2E9A-A90A-B5BF-C94801C24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300" y="5453857"/>
            <a:ext cx="4432300" cy="1071562"/>
          </a:xfrm>
        </p:spPr>
        <p:txBody>
          <a:bodyPr/>
          <a:lstStyle/>
          <a:p>
            <a:r>
              <a:rPr lang="en-US" dirty="0"/>
              <a:t>Created by – Nikhil Dhasmana</a:t>
            </a:r>
          </a:p>
          <a:p>
            <a:r>
              <a:rPr lang="en-US" dirty="0"/>
              <a:t>Date- 10-11-2025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72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E8B4-E44B-120B-E346-E3629B84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Overview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3F03C-C247-D51F-0CE0-D0870189A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8101"/>
            <a:ext cx="10515600" cy="3598862"/>
          </a:xfrm>
        </p:spPr>
        <p:txBody>
          <a:bodyPr/>
          <a:lstStyle/>
          <a:p>
            <a:r>
              <a:rPr lang="en-US" dirty="0"/>
              <a:t>Objective </a:t>
            </a:r>
          </a:p>
          <a:p>
            <a:r>
              <a:rPr lang="en-US" dirty="0"/>
              <a:t>Data Analysis Points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65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9F88-C030-4B36-0949-66A769291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Objective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842C-8D3E-AA77-649E-9CD343B6D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4200" y="1690688"/>
            <a:ext cx="9359900" cy="265271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</a:t>
            </a:r>
            <a:r>
              <a:rPr lang="en-US" dirty="0" err="1"/>
              <a:t>analyse</a:t>
            </a:r>
            <a:r>
              <a:rPr lang="en-US" dirty="0"/>
              <a:t> workforce patterns and build a Power BI     dashboard that transforms HR data into actionable insights for better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11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61600-FA81-3255-EF7E-35668851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Data Analysis Points 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176D-A7AB-8826-BBF6-D3C783D0D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1876"/>
          </a:xfrm>
        </p:spPr>
        <p:txBody>
          <a:bodyPr>
            <a:normAutofit/>
          </a:bodyPr>
          <a:lstStyle/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Attrition Analysis</a:t>
            </a: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Performance Rating Distribution</a:t>
            </a:r>
            <a:endParaRPr lang="en-IN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Promotion Impact Analysis </a:t>
            </a: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Exit Reason Breakdown</a:t>
            </a:r>
            <a:endParaRPr lang="en-IN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Manager-wise Exit Feedback</a:t>
            </a: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Country-wise Workforce Comparison</a:t>
            </a:r>
            <a:endParaRPr lang="en-IN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Tenure vs Performance</a:t>
            </a: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Joining &amp; Exit Patterns</a:t>
            </a: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Employee Status Distribution</a:t>
            </a:r>
            <a:endParaRPr lang="en-IN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IN" sz="200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Organisational Culture Sentiment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4783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A4AC-AA73-CC6D-CD62-B7B3AD0A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7" y="0"/>
            <a:ext cx="10515600" cy="47089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Attrition Analysis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09A6-C804-5869-F184-E325C212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0898"/>
            <a:ext cx="12192000" cy="6387102"/>
          </a:xfrm>
        </p:spPr>
        <p:txBody>
          <a:bodyPr/>
          <a:lstStyle/>
          <a:p>
            <a:r>
              <a:rPr lang="en-US" sz="1600" b="1" u="sng" dirty="0"/>
              <a:t>Insights</a:t>
            </a:r>
          </a:p>
          <a:p>
            <a:r>
              <a:rPr lang="en-US" sz="1400" b="1" dirty="0"/>
              <a:t> Attrition Trend by Department</a:t>
            </a:r>
          </a:p>
          <a:p>
            <a:r>
              <a:rPr lang="en-US" sz="1400" dirty="0"/>
              <a:t>Sales and Engineering show consistently high attrition,</a:t>
            </a:r>
          </a:p>
          <a:p>
            <a:pPr marL="0" indent="0">
              <a:buNone/>
            </a:pPr>
            <a:r>
              <a:rPr lang="en-US" sz="1400" dirty="0"/>
              <a:t> while Finance and HR remain stable with lower exits.</a:t>
            </a:r>
          </a:p>
          <a:p>
            <a:r>
              <a:rPr lang="en-US" sz="1400" b="1" dirty="0"/>
              <a:t>Attrition Trend by Exit Type</a:t>
            </a:r>
          </a:p>
          <a:p>
            <a:pPr marL="0" indent="0">
              <a:buNone/>
            </a:pPr>
            <a:r>
              <a:rPr lang="en-US" sz="1400" dirty="0"/>
              <a:t>▪ Involuntary exits were higher earlier, but recent years show more voluntary resignations,</a:t>
            </a:r>
          </a:p>
          <a:p>
            <a:pPr marL="0" indent="0">
              <a:buNone/>
            </a:pPr>
            <a:r>
              <a:rPr lang="en-US" sz="1400" dirty="0"/>
              <a:t> indicating rising employee dissatisfaction.</a:t>
            </a:r>
          </a:p>
          <a:p>
            <a:r>
              <a:rPr lang="en-US" sz="1400" b="1" dirty="0"/>
              <a:t>Attrition Trend by Country</a:t>
            </a:r>
          </a:p>
          <a:p>
            <a:pPr marL="0" indent="0">
              <a:buNone/>
            </a:pPr>
            <a:r>
              <a:rPr lang="en-US" sz="1400" dirty="0"/>
              <a:t>▪ Attrition is highest in the UK and US, </a:t>
            </a:r>
          </a:p>
          <a:p>
            <a:pPr marL="0" indent="0">
              <a:buNone/>
            </a:pPr>
            <a:r>
              <a:rPr lang="en-US" sz="1400" dirty="0"/>
              <a:t>suggesting stronger retention challenges there compared to India and Singapore.</a:t>
            </a:r>
          </a:p>
          <a:p>
            <a:r>
              <a:rPr lang="en-US" sz="1400" b="1" dirty="0"/>
              <a:t>Attrition Count by Year</a:t>
            </a:r>
          </a:p>
          <a:p>
            <a:pPr marL="0" indent="0">
              <a:buNone/>
            </a:pPr>
            <a:r>
              <a:rPr lang="en-US" sz="1400" dirty="0"/>
              <a:t>▪ Attrition peaked around 2020 and 2022 but has been steadily declining since, </a:t>
            </a:r>
          </a:p>
          <a:p>
            <a:pPr marL="0" indent="0">
              <a:buNone/>
            </a:pPr>
            <a:r>
              <a:rPr lang="en-US" sz="1400" dirty="0"/>
              <a:t>showing gradual improvement in retention efforts.</a:t>
            </a:r>
          </a:p>
          <a:p>
            <a:r>
              <a:rPr lang="en-US" sz="1400" b="1" dirty="0"/>
              <a:t>Overall Insight</a:t>
            </a:r>
          </a:p>
          <a:p>
            <a:pPr marL="0" indent="0">
              <a:buNone/>
            </a:pPr>
            <a:r>
              <a:rPr lang="en-US" sz="1400" dirty="0"/>
              <a:t>▪ The overall attrition rate dropped from 38% to 25%, reflecting positive progress in employee retention.</a:t>
            </a:r>
          </a:p>
          <a:p>
            <a:r>
              <a:rPr lang="en-US" sz="1600" b="1" u="sng" dirty="0"/>
              <a:t>Suggestions</a:t>
            </a:r>
          </a:p>
          <a:p>
            <a:pPr marL="0" indent="0">
              <a:buNone/>
            </a:pPr>
            <a:r>
              <a:rPr lang="en-US" sz="1400" dirty="0"/>
              <a:t>▪ Focus on improving retention in </a:t>
            </a:r>
            <a:r>
              <a:rPr lang="en-US" sz="1400" b="1" dirty="0"/>
              <a:t>Sales and Engineering</a:t>
            </a:r>
            <a:r>
              <a:rPr lang="en-US" sz="1400" dirty="0"/>
              <a:t> departments through better career growth and work-life balance.</a:t>
            </a:r>
            <a:br>
              <a:rPr lang="en-US" sz="1400" dirty="0"/>
            </a:br>
            <a:r>
              <a:rPr lang="en-US" sz="1400" dirty="0"/>
              <a:t>▪ Conduct </a:t>
            </a:r>
            <a:r>
              <a:rPr lang="en-US" sz="1400" b="1" dirty="0"/>
              <a:t>exit interviews</a:t>
            </a:r>
            <a:r>
              <a:rPr lang="en-US" sz="1400" dirty="0"/>
              <a:t> to understand why voluntary resignations are increasing.</a:t>
            </a:r>
            <a:br>
              <a:rPr lang="en-US" sz="1400" dirty="0"/>
            </a:br>
            <a:r>
              <a:rPr lang="en-US" sz="1400" dirty="0"/>
              <a:t>▪ Review </a:t>
            </a:r>
            <a:r>
              <a:rPr lang="en-US" sz="1400" b="1" dirty="0"/>
              <a:t>compensation and management practices</a:t>
            </a:r>
            <a:r>
              <a:rPr lang="en-US" sz="1400" dirty="0"/>
              <a:t> in the </a:t>
            </a:r>
            <a:r>
              <a:rPr lang="en-US" sz="1400" b="1" dirty="0"/>
              <a:t>UK and US</a:t>
            </a:r>
            <a:r>
              <a:rPr lang="en-US" sz="1400" dirty="0"/>
              <a:t> to address higher attrition there.</a:t>
            </a:r>
            <a:br>
              <a:rPr lang="en-US" sz="1400" dirty="0"/>
            </a:br>
            <a:r>
              <a:rPr lang="en-US" sz="1400" dirty="0"/>
              <a:t>▪ Keep tracking attrition trends yearly to ensure the declining trend continues.</a:t>
            </a:r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F0391-3897-5408-2758-A8DEA324C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00" y="627750"/>
            <a:ext cx="4816929" cy="2801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7823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94FF-F050-D12D-20DC-78A660E8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931"/>
            <a:ext cx="10515600" cy="31591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Performance rating distribution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B3BC6-14AC-DF6B-A285-BC7909FB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40"/>
            <a:ext cx="12192000" cy="6400800"/>
          </a:xfrm>
        </p:spPr>
        <p:txBody>
          <a:bodyPr>
            <a:normAutofit/>
          </a:bodyPr>
          <a:lstStyle/>
          <a:p>
            <a:r>
              <a:rPr lang="en-US" sz="1800" b="1" dirty="0"/>
              <a:t>Insights</a:t>
            </a:r>
          </a:p>
          <a:p>
            <a:pPr marL="0" indent="0">
              <a:buNone/>
            </a:pPr>
            <a:r>
              <a:rPr lang="en-US" sz="1400" b="1" dirty="0"/>
              <a:t>1.  Average Performance Rating by Year</a:t>
            </a:r>
          </a:p>
          <a:p>
            <a:pPr marL="0" indent="0">
              <a:buNone/>
            </a:pPr>
            <a:r>
              <a:rPr lang="en-US" sz="1400" dirty="0"/>
              <a:t>▪    Performance ratings peaked in </a:t>
            </a:r>
            <a:r>
              <a:rPr lang="en-US" sz="1400" b="1" dirty="0"/>
              <a:t>2021 (3.16)</a:t>
            </a:r>
            <a:r>
              <a:rPr lang="en-US" sz="1400" dirty="0"/>
              <a:t>,  After 2021,</a:t>
            </a:r>
          </a:p>
          <a:p>
            <a:pPr marL="0" indent="0">
              <a:buNone/>
            </a:pPr>
            <a:r>
              <a:rPr lang="en-US" sz="1400" dirty="0"/>
              <a:t>     ratings gradually declined, suggesting possible burnout or reduced motivation post-pandemic.</a:t>
            </a:r>
          </a:p>
          <a:p>
            <a:pPr marL="0" indent="0">
              <a:buNone/>
            </a:pPr>
            <a:r>
              <a:rPr lang="en-US" sz="1400" b="1" dirty="0"/>
              <a:t>2.  Average Performance Rating by Department</a:t>
            </a:r>
          </a:p>
          <a:p>
            <a:r>
              <a:rPr lang="en-US" sz="1400" dirty="0"/>
              <a:t> </a:t>
            </a:r>
            <a:r>
              <a:rPr lang="en-US" sz="1400" b="1" dirty="0"/>
              <a:t>Client Service (3.1)</a:t>
            </a:r>
            <a:r>
              <a:rPr lang="en-US" sz="1400" dirty="0"/>
              <a:t> has the highest average rating, showing strong and consistent performance.</a:t>
            </a:r>
          </a:p>
          <a:p>
            <a:r>
              <a:rPr lang="en-US" sz="1400" dirty="0"/>
              <a:t> </a:t>
            </a:r>
            <a:r>
              <a:rPr lang="en-US" sz="1400" b="1" dirty="0"/>
              <a:t>Finance and HR (2.9)</a:t>
            </a:r>
            <a:r>
              <a:rPr lang="en-US" sz="1400" dirty="0"/>
              <a:t> have slightly lower ratings, </a:t>
            </a:r>
          </a:p>
          <a:p>
            <a:pPr marL="0" indent="0">
              <a:buNone/>
            </a:pPr>
            <a:r>
              <a:rPr lang="en-US" sz="1400" dirty="0"/>
              <a:t>     indicating scope for performance improvement or training focus.</a:t>
            </a:r>
          </a:p>
          <a:p>
            <a:pPr marL="0" indent="0">
              <a:buNone/>
            </a:pPr>
            <a:r>
              <a:rPr lang="en-US" sz="1400" b="1" dirty="0"/>
              <a:t>3.  Average Performance Rating by Country</a:t>
            </a:r>
          </a:p>
          <a:p>
            <a:pPr marL="0" indent="0">
              <a:buNone/>
            </a:pPr>
            <a:r>
              <a:rPr lang="en-US" sz="1400" dirty="0"/>
              <a:t>▪    Ratings are fairly consistent across all countries, with the </a:t>
            </a:r>
            <a:r>
              <a:rPr lang="en-US" sz="1400" b="1" dirty="0"/>
              <a:t>UK and US (3.1)</a:t>
            </a:r>
            <a:r>
              <a:rPr lang="en-US" sz="1400" dirty="0"/>
              <a:t> slightly ahead of others.</a:t>
            </a:r>
            <a:br>
              <a:rPr lang="en-US" sz="1400" dirty="0"/>
            </a:br>
            <a:r>
              <a:rPr lang="en-US" sz="1400" dirty="0"/>
              <a:t>      India and Singapore (2.9) show marginally lower averages.</a:t>
            </a:r>
          </a:p>
          <a:p>
            <a:pPr marL="0" indent="0">
              <a:buNone/>
            </a:pPr>
            <a:r>
              <a:rPr lang="en-US" sz="1400" b="1" dirty="0"/>
              <a:t>4.  Employees Count by Performance Rating</a:t>
            </a:r>
          </a:p>
          <a:p>
            <a:pPr marL="0" indent="0">
              <a:buNone/>
            </a:pPr>
            <a:r>
              <a:rPr lang="en-US" sz="1400" dirty="0"/>
              <a:t>▪    The distribution is quite balanced across all rating levels▪ About </a:t>
            </a:r>
            <a:r>
              <a:rPr lang="en-US" sz="1400" b="1" dirty="0"/>
              <a:t>20% of employees</a:t>
            </a:r>
            <a:r>
              <a:rPr lang="en-US" sz="1400" dirty="0"/>
              <a:t> fall in each rating category,</a:t>
            </a:r>
          </a:p>
          <a:p>
            <a:pPr marL="0" indent="0">
              <a:buNone/>
            </a:pPr>
            <a:r>
              <a:rPr lang="en-US" sz="1400" dirty="0"/>
              <a:t>      showing a stable and fair evaluation process.</a:t>
            </a:r>
          </a:p>
          <a:p>
            <a:r>
              <a:rPr lang="en-US" sz="1600" b="1" dirty="0"/>
              <a:t>Suggestions</a:t>
            </a:r>
          </a:p>
          <a:p>
            <a:r>
              <a:rPr lang="en-US" sz="1400" dirty="0"/>
              <a:t>▪ Maintain post-2021 performance levels by setting clear goals and regular feedback sessions.</a:t>
            </a:r>
            <a:br>
              <a:rPr lang="en-US" sz="1400" dirty="0"/>
            </a:br>
            <a:r>
              <a:rPr lang="en-US" sz="1400" dirty="0"/>
              <a:t>▪ Provide extra training for </a:t>
            </a:r>
            <a:r>
              <a:rPr lang="en-US" sz="1400" b="1" dirty="0"/>
              <a:t>Finance</a:t>
            </a:r>
            <a:r>
              <a:rPr lang="en-US" sz="1400" dirty="0"/>
              <a:t> and </a:t>
            </a:r>
            <a:r>
              <a:rPr lang="en-US" sz="1400" b="1" dirty="0"/>
              <a:t>HR</a:t>
            </a:r>
            <a:r>
              <a:rPr lang="en-US" sz="1400" dirty="0"/>
              <a:t> teams to lift their average ratings.</a:t>
            </a:r>
            <a:br>
              <a:rPr lang="en-US" sz="1400" dirty="0"/>
            </a:br>
            <a:r>
              <a:rPr lang="en-US" sz="1400" dirty="0"/>
              <a:t>▪ Keep the current </a:t>
            </a:r>
            <a:r>
              <a:rPr lang="en-US" sz="1400" b="1" dirty="0"/>
              <a:t>evaluation system</a:t>
            </a:r>
            <a:r>
              <a:rPr lang="en-US" sz="1400" dirty="0"/>
              <a:t> consistent across all countries.</a:t>
            </a:r>
            <a:br>
              <a:rPr lang="en-US" sz="1400" dirty="0"/>
            </a:br>
            <a:r>
              <a:rPr lang="en-US" sz="1400" dirty="0"/>
              <a:t>▪ Review the </a:t>
            </a:r>
            <a:r>
              <a:rPr lang="en-US" sz="1400" b="1" dirty="0"/>
              <a:t>promotion process</a:t>
            </a:r>
            <a:r>
              <a:rPr lang="en-US" sz="1400" dirty="0"/>
              <a:t> to ensure it stays performance-based and fair.</a:t>
            </a:r>
            <a:br>
              <a:rPr lang="en-US" sz="1400" dirty="0"/>
            </a:br>
            <a:r>
              <a:rPr lang="en-US" sz="1400" dirty="0"/>
              <a:t>▪ Learn from </a:t>
            </a:r>
            <a:r>
              <a:rPr lang="en-US" sz="1400" b="1" dirty="0"/>
              <a:t>Client Service’s</a:t>
            </a:r>
            <a:r>
              <a:rPr lang="en-US" sz="1400" dirty="0"/>
              <a:t> high performance and apply similar practices elsewhere.</a:t>
            </a:r>
            <a:br>
              <a:rPr lang="en-US" sz="1400" dirty="0"/>
            </a:br>
            <a:r>
              <a:rPr lang="en-US" sz="1400" dirty="0"/>
              <a:t>▪ Conduct </a:t>
            </a:r>
            <a:r>
              <a:rPr lang="en-US" sz="1400" b="1" dirty="0"/>
              <a:t>rating calibration meetings</a:t>
            </a:r>
            <a:r>
              <a:rPr lang="en-US" sz="1400" dirty="0"/>
              <a:t> to keep evaluations unbiased.</a:t>
            </a:r>
            <a:br>
              <a:rPr lang="en-US" sz="1400" dirty="0"/>
            </a:br>
            <a:r>
              <a:rPr lang="en-US" sz="1400" dirty="0"/>
              <a:t>▪ Support employees with lower ratings through </a:t>
            </a:r>
            <a:r>
              <a:rPr lang="en-US" sz="1400" b="1" dirty="0"/>
              <a:t>mentorship and skill development</a:t>
            </a:r>
            <a:r>
              <a:rPr lang="en-US" sz="1400" dirty="0"/>
              <a:t> programs.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C3C9BA-268A-322C-36EC-1C06F36BF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27" y="665711"/>
            <a:ext cx="4575555" cy="25477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1512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FDBA-094D-075D-8D31-97B748DA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26"/>
            <a:ext cx="12192000" cy="31591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Promotion impact analysis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73201-274C-9E9F-6A63-E6B7C8A8A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71500"/>
            <a:ext cx="12192000" cy="6591300"/>
          </a:xfrm>
        </p:spPr>
        <p:txBody>
          <a:bodyPr>
            <a:normAutofit/>
          </a:bodyPr>
          <a:lstStyle/>
          <a:p>
            <a:r>
              <a:rPr lang="en-US" sz="1400" b="1" dirty="0"/>
              <a:t>Insights</a:t>
            </a:r>
          </a:p>
          <a:p>
            <a:pPr marL="0" indent="0">
              <a:buNone/>
            </a:pPr>
            <a:r>
              <a:rPr lang="en-US" sz="1200" b="1" dirty="0"/>
              <a:t>1.  Promotion Rate % by Country</a:t>
            </a:r>
          </a:p>
          <a:p>
            <a:pPr marL="0" indent="0">
              <a:buNone/>
            </a:pPr>
            <a:r>
              <a:rPr lang="en-US" sz="1200" dirty="0"/>
              <a:t>▪   The </a:t>
            </a:r>
            <a:r>
              <a:rPr lang="en-US" sz="1200" b="1" dirty="0"/>
              <a:t>UAE (104%)</a:t>
            </a:r>
            <a:r>
              <a:rPr lang="en-US" sz="1200" dirty="0"/>
              <a:t> and </a:t>
            </a:r>
            <a:r>
              <a:rPr lang="en-US" sz="1200" b="1" dirty="0"/>
              <a:t>UK (100%)</a:t>
            </a:r>
            <a:r>
              <a:rPr lang="en-US" sz="1200" dirty="0"/>
              <a:t> have the highest promotion </a:t>
            </a:r>
            <a:r>
              <a:rPr lang="en-US" sz="1200" dirty="0" err="1"/>
              <a:t>rates,while</a:t>
            </a:r>
            <a:r>
              <a:rPr lang="en-US" sz="1200" dirty="0"/>
              <a:t> </a:t>
            </a:r>
            <a:r>
              <a:rPr lang="en-US" sz="1200" b="1" dirty="0"/>
              <a:t>Singapore (87%)</a:t>
            </a:r>
            <a:r>
              <a:rPr lang="en-US" sz="1200" dirty="0"/>
              <a:t> is the lowest.</a:t>
            </a:r>
            <a:br>
              <a:rPr lang="en-US" sz="1200" dirty="0"/>
            </a:br>
            <a:r>
              <a:rPr lang="en-US" sz="1200" dirty="0"/>
              <a:t>▪   Overall, promotion rates remain strong across all </a:t>
            </a:r>
            <a:r>
              <a:rPr lang="en-US" sz="1200" dirty="0" err="1"/>
              <a:t>countries,showing</a:t>
            </a:r>
            <a:r>
              <a:rPr lang="en-US" sz="1200" dirty="0"/>
              <a:t> good global recognition practices.</a:t>
            </a:r>
          </a:p>
          <a:p>
            <a:pPr marL="0" indent="0">
              <a:buNone/>
            </a:pPr>
            <a:r>
              <a:rPr lang="en-US" sz="1200" b="1" dirty="0"/>
              <a:t>2.  Average Performance Rating and Promotion Count by Year</a:t>
            </a:r>
          </a:p>
          <a:p>
            <a:r>
              <a:rPr lang="en-US" sz="1200" dirty="0"/>
              <a:t> Promotions were highest between </a:t>
            </a:r>
            <a:r>
              <a:rPr lang="en-US" sz="1200" b="1" dirty="0"/>
              <a:t>2016–2020</a:t>
            </a:r>
            <a:r>
              <a:rPr lang="en-US" sz="1200" dirty="0"/>
              <a:t>, aligning with better performance ratings.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 After </a:t>
            </a:r>
            <a:r>
              <a:rPr lang="en-US" sz="1200" b="1" dirty="0"/>
              <a:t>2021</a:t>
            </a:r>
            <a:r>
              <a:rPr lang="en-US" sz="1200" dirty="0"/>
              <a:t>, both promotion count and performance ratings dropped,</a:t>
            </a:r>
          </a:p>
          <a:p>
            <a:pPr marL="0" indent="0">
              <a:buNone/>
            </a:pPr>
            <a:r>
              <a:rPr lang="en-US" sz="1200" dirty="0"/>
              <a:t>       suggesting reduced performance-linked promotions.</a:t>
            </a:r>
          </a:p>
          <a:p>
            <a:pPr marL="0" indent="0">
              <a:buNone/>
            </a:pPr>
            <a:r>
              <a:rPr lang="en-US" sz="1200" b="1" dirty="0"/>
              <a:t>3.  Employees by Department and Performance Rating</a:t>
            </a:r>
          </a:p>
          <a:p>
            <a:r>
              <a:rPr lang="en-US" sz="1200" dirty="0"/>
              <a:t>▪ Most departments have a balanced rating mix,</a:t>
            </a:r>
          </a:p>
          <a:p>
            <a:pPr marL="0" indent="0">
              <a:buNone/>
            </a:pPr>
            <a:r>
              <a:rPr lang="en-US" sz="1200" dirty="0"/>
              <a:t>         but </a:t>
            </a:r>
            <a:r>
              <a:rPr lang="en-US" sz="1200" b="1" dirty="0"/>
              <a:t>Engineering and HR</a:t>
            </a:r>
            <a:r>
              <a:rPr lang="en-US" sz="1200" dirty="0"/>
              <a:t> have slightly higher shares of top performers.</a:t>
            </a:r>
            <a:br>
              <a:rPr lang="en-US" sz="1200" dirty="0"/>
            </a:br>
            <a:r>
              <a:rPr lang="en-US" sz="1200" dirty="0"/>
              <a:t>▪    </a:t>
            </a:r>
            <a:r>
              <a:rPr lang="en-US" sz="1200" b="1" dirty="0"/>
              <a:t>Finance</a:t>
            </a:r>
            <a:r>
              <a:rPr lang="en-US" sz="1200" dirty="0"/>
              <a:t> shows more mid-level ratings, indicating room for skill enhancement or motivation improvement.</a:t>
            </a:r>
          </a:p>
          <a:p>
            <a:pPr marL="0" indent="0">
              <a:buNone/>
            </a:pPr>
            <a:r>
              <a:rPr lang="en-US" sz="1200" b="1" dirty="0"/>
              <a:t>4.  Performance Count vs Promotion Rating</a:t>
            </a:r>
          </a:p>
          <a:p>
            <a:r>
              <a:rPr lang="en-US" sz="1200" dirty="0"/>
              <a:t>▪ Departments like </a:t>
            </a:r>
            <a:r>
              <a:rPr lang="en-US" sz="1200" b="1" dirty="0"/>
              <a:t>Client Service</a:t>
            </a:r>
            <a:r>
              <a:rPr lang="en-US" sz="1200" dirty="0"/>
              <a:t> and </a:t>
            </a:r>
            <a:r>
              <a:rPr lang="en-US" sz="1200" b="1" dirty="0"/>
              <a:t>Engineering</a:t>
            </a:r>
            <a:r>
              <a:rPr lang="en-US" sz="1200" dirty="0"/>
              <a:t> have the most promotions among top-rated employees.</a:t>
            </a:r>
            <a:br>
              <a:rPr lang="en-US" sz="1200" dirty="0"/>
            </a:br>
            <a:r>
              <a:rPr lang="en-US" sz="1200" dirty="0"/>
              <a:t>▪ This shows that promotions are mainly </a:t>
            </a:r>
            <a:r>
              <a:rPr lang="en-US" sz="1200" b="1" dirty="0"/>
              <a:t>performance-driven</a:t>
            </a:r>
            <a:r>
              <a:rPr lang="en-US" sz="1200" dirty="0"/>
              <a:t>, especially for employees rated 5.</a:t>
            </a:r>
          </a:p>
          <a:p>
            <a:r>
              <a:rPr lang="en-US" sz="1400" b="1" dirty="0"/>
              <a:t>Suggestions</a:t>
            </a:r>
          </a:p>
          <a:p>
            <a:r>
              <a:rPr lang="en-US" sz="1200" dirty="0"/>
              <a:t>▪ Review the </a:t>
            </a:r>
            <a:r>
              <a:rPr lang="en-US" sz="1200" b="1" dirty="0"/>
              <a:t>post-2021 promotion criteria</a:t>
            </a:r>
            <a:r>
              <a:rPr lang="en-US" sz="1200" dirty="0"/>
              <a:t> to ensure high performers continue to be rewarded fairly.</a:t>
            </a:r>
            <a:br>
              <a:rPr lang="en-US" sz="1200" dirty="0"/>
            </a:br>
            <a:r>
              <a:rPr lang="en-US" sz="1200" dirty="0"/>
              <a:t>▪ Focus on improving </a:t>
            </a:r>
            <a:r>
              <a:rPr lang="en-US" sz="1200" b="1" dirty="0"/>
              <a:t>promotion opportunities in Singapore</a:t>
            </a:r>
            <a:r>
              <a:rPr lang="en-US" sz="1200" dirty="0"/>
              <a:t>, where the rate is lowest.</a:t>
            </a:r>
            <a:br>
              <a:rPr lang="en-US" sz="1200" dirty="0"/>
            </a:br>
            <a:r>
              <a:rPr lang="en-US" sz="1200" dirty="0"/>
              <a:t>▪ Provide </a:t>
            </a:r>
            <a:r>
              <a:rPr lang="en-US" sz="1200" b="1" dirty="0"/>
              <a:t>development programs</a:t>
            </a:r>
            <a:r>
              <a:rPr lang="en-US" sz="1200" dirty="0"/>
              <a:t> for mid-rated employees in Finance and Marketing to boost readiness for promotion.</a:t>
            </a:r>
            <a:br>
              <a:rPr lang="en-US" sz="1200" dirty="0"/>
            </a:br>
            <a:r>
              <a:rPr lang="en-US" sz="1200" dirty="0"/>
              <a:t>▪ Maintain the strong </a:t>
            </a:r>
            <a:r>
              <a:rPr lang="en-US" sz="1200" b="1" dirty="0"/>
              <a:t>performance-linked promotion system</a:t>
            </a:r>
            <a:r>
              <a:rPr lang="en-US" sz="1200" dirty="0"/>
              <a:t> seen in Client Service and Engineering.</a:t>
            </a:r>
            <a:br>
              <a:rPr lang="en-US" sz="1200" dirty="0"/>
            </a:br>
            <a:r>
              <a:rPr lang="en-US" sz="1200" dirty="0"/>
              <a:t>▪ Conduct </a:t>
            </a:r>
            <a:r>
              <a:rPr lang="en-US" sz="1200" b="1" dirty="0"/>
              <a:t>regular performance calibration sessions</a:t>
            </a:r>
            <a:r>
              <a:rPr lang="en-US" sz="1200" dirty="0"/>
              <a:t> to keep ratings and promotions aligned across all departments.</a:t>
            </a:r>
            <a:br>
              <a:rPr lang="en-US" sz="1200" dirty="0"/>
            </a:br>
            <a:r>
              <a:rPr lang="en-US" sz="1200" dirty="0"/>
              <a:t>▪ Encourage </a:t>
            </a:r>
            <a:r>
              <a:rPr lang="en-US" sz="1200" b="1" dirty="0"/>
              <a:t>manager-led recognition and feedback</a:t>
            </a:r>
            <a:r>
              <a:rPr lang="en-US" sz="1200" dirty="0"/>
              <a:t> to sustain motivation after the drop in promotions.</a:t>
            </a:r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D04C6-84AD-159D-990A-EE2228CF9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662" y="734654"/>
            <a:ext cx="4979792" cy="27959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457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07B7-DED3-DE03-F7B6-928178309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3179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Exit Reason breakdown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E30B2-05F5-91A0-CC20-B9223F414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1800"/>
            <a:ext cx="12192000" cy="6591300"/>
          </a:xfrm>
        </p:spPr>
        <p:txBody>
          <a:bodyPr>
            <a:normAutofit/>
          </a:bodyPr>
          <a:lstStyle/>
          <a:p>
            <a:r>
              <a:rPr lang="en-US" sz="1600" b="1" dirty="0">
                <a:cs typeface="Segoe UI Light" panose="020B0502040204020203" pitchFamily="34" charset="0"/>
              </a:rPr>
              <a:t>Insights</a:t>
            </a:r>
            <a:r>
              <a:rPr lang="en-US" sz="1400" b="1" dirty="0">
                <a:cs typeface="Segoe UI Light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en-US" sz="1200" b="1" dirty="0">
                <a:cs typeface="Segoe UI Light" panose="020B0502040204020203" pitchFamily="34" charset="0"/>
              </a:rPr>
              <a:t>   </a:t>
            </a:r>
            <a:r>
              <a:rPr lang="en-US" sz="1200" b="1" dirty="0">
                <a:cs typeface="Segoe UI" panose="020B0502040204020203" pitchFamily="34" charset="0"/>
              </a:rPr>
              <a:t>1. Top Exit Reasons (Bar Chart)</a:t>
            </a:r>
          </a:p>
          <a:p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Health Issues (57)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Restructuring (52)</a:t>
            </a:r>
            <a:r>
              <a:rPr lang="en-US" sz="1200" dirty="0">
                <a:cs typeface="Segoe UI" panose="020B0502040204020203" pitchFamily="34" charset="0"/>
              </a:rPr>
              <a:t> are the leading causes of exits.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Better Opportunity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Termination</a:t>
            </a:r>
            <a:r>
              <a:rPr lang="en-US" sz="1200" dirty="0">
                <a:cs typeface="Segoe UI" panose="020B0502040204020203" pitchFamily="34" charset="0"/>
              </a:rPr>
              <a:t> follow closely, both at </a:t>
            </a:r>
            <a:r>
              <a:rPr lang="en-US" sz="1200" b="1" dirty="0">
                <a:cs typeface="Segoe UI" panose="020B0502040204020203" pitchFamily="34" charset="0"/>
              </a:rPr>
              <a:t>51 exits</a:t>
            </a:r>
            <a:r>
              <a:rPr lang="en-US" sz="1200" dirty="0">
                <a:cs typeface="Segoe UI" panose="020B0502040204020203" pitchFamily="34" charset="0"/>
              </a:rPr>
              <a:t>,</a:t>
            </a:r>
          </a:p>
          <a:p>
            <a:pPr marL="0" indent="0">
              <a:buNone/>
            </a:pPr>
            <a:r>
              <a:rPr lang="en-US" sz="1200" dirty="0">
                <a:cs typeface="Segoe UI" panose="020B0502040204020203" pitchFamily="34" charset="0"/>
              </a:rPr>
              <a:t>         showing a mix of voluntary and company-driven attrition.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      Most exits are due to </a:t>
            </a:r>
            <a:r>
              <a:rPr lang="en-US" sz="1200" b="1" dirty="0">
                <a:cs typeface="Segoe UI" panose="020B0502040204020203" pitchFamily="34" charset="0"/>
              </a:rPr>
              <a:t>personal or organizational factors</a:t>
            </a:r>
            <a:r>
              <a:rPr lang="en-US" sz="1200" dirty="0">
                <a:cs typeface="Segoe UI" panose="020B0502040204020203" pitchFamily="34" charset="0"/>
              </a:rPr>
              <a:t>, not performance</a:t>
            </a:r>
          </a:p>
          <a:p>
            <a:pPr marL="0" indent="0">
              <a:buNone/>
            </a:pPr>
            <a:r>
              <a:rPr lang="en-US" sz="1200" b="1" dirty="0">
                <a:cs typeface="Segoe UI" panose="020B0502040204020203" pitchFamily="34" charset="0"/>
              </a:rPr>
              <a:t>   2. Exit Count by Country and Exit Reason (Clustered Chart)</a:t>
            </a:r>
          </a:p>
          <a:p>
            <a:r>
              <a:rPr lang="en-US" sz="1200" dirty="0">
                <a:cs typeface="Segoe UI" panose="020B0502040204020203" pitchFamily="34" charset="0"/>
              </a:rPr>
              <a:t>▪ Exit reasons vary by country -</a:t>
            </a:r>
            <a:r>
              <a:rPr lang="en-US" sz="1200" b="1" dirty="0">
                <a:cs typeface="Segoe UI" panose="020B0502040204020203" pitchFamily="34" charset="0"/>
              </a:rPr>
              <a:t>UAE and US</a:t>
            </a:r>
            <a:r>
              <a:rPr lang="en-US" sz="1200" dirty="0">
                <a:cs typeface="Segoe UI" panose="020B0502040204020203" pitchFamily="34" charset="0"/>
              </a:rPr>
              <a:t> show higher exits for </a:t>
            </a:r>
            <a:r>
              <a:rPr lang="en-US" sz="1200" b="1" dirty="0">
                <a:cs typeface="Segoe UI" panose="020B0502040204020203" pitchFamily="34" charset="0"/>
              </a:rPr>
              <a:t>Better Opportunity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Restructuring</a:t>
            </a:r>
            <a:r>
              <a:rPr lang="en-US" sz="1200" dirty="0">
                <a:cs typeface="Segoe UI" panose="020B0502040204020203" pitchFamily="34" charset="0"/>
              </a:rPr>
              <a:t>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India and UK</a:t>
            </a:r>
            <a:r>
              <a:rPr lang="en-US" sz="1200" dirty="0">
                <a:cs typeface="Segoe UI" panose="020B0502040204020203" pitchFamily="34" charset="0"/>
              </a:rPr>
              <a:t> have more balanced exit reasons across categories, suggesting consistent HR policies globally.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Singapore</a:t>
            </a:r>
            <a:r>
              <a:rPr lang="en-US" sz="1200" dirty="0">
                <a:cs typeface="Segoe UI" panose="020B0502040204020203" pitchFamily="34" charset="0"/>
              </a:rPr>
              <a:t> shows moderate exits, mainly linked to </a:t>
            </a:r>
            <a:r>
              <a:rPr lang="en-US" sz="1200" b="1" dirty="0">
                <a:cs typeface="Segoe UI" panose="020B0502040204020203" pitchFamily="34" charset="0"/>
              </a:rPr>
              <a:t>Health Issues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Relocation</a:t>
            </a:r>
            <a:r>
              <a:rPr lang="en-US" sz="1200" dirty="0">
                <a:cs typeface="Segoe UI" panose="020B0502040204020203" pitchFamily="34" charset="0"/>
              </a:rPr>
              <a:t>.</a:t>
            </a:r>
          </a:p>
          <a:p>
            <a:pPr marL="0" indent="0">
              <a:buNone/>
            </a:pPr>
            <a:r>
              <a:rPr lang="en-US" sz="1200" b="1" dirty="0">
                <a:cs typeface="Segoe UI" panose="020B0502040204020203" pitchFamily="34" charset="0"/>
              </a:rPr>
              <a:t>   3. Exit Count by Exit Reason and Exit Type (Column Chart)</a:t>
            </a:r>
          </a:p>
          <a:p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Health Issues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Restructuring</a:t>
            </a:r>
            <a:r>
              <a:rPr lang="en-US" sz="1200" dirty="0">
                <a:cs typeface="Segoe UI" panose="020B0502040204020203" pitchFamily="34" charset="0"/>
              </a:rPr>
              <a:t> are primarily </a:t>
            </a:r>
            <a:r>
              <a:rPr lang="en-US" sz="1200" b="1" dirty="0">
                <a:cs typeface="Segoe UI" panose="020B0502040204020203" pitchFamily="34" charset="0"/>
              </a:rPr>
              <a:t>involuntary exits</a:t>
            </a:r>
            <a:r>
              <a:rPr lang="en-US" sz="1200" dirty="0">
                <a:cs typeface="Segoe UI" panose="020B0502040204020203" pitchFamily="34" charset="0"/>
              </a:rPr>
              <a:t>, indicating company or personal health-related separations.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Better Opportunity</a:t>
            </a:r>
            <a:r>
              <a:rPr lang="en-US" sz="1200" dirty="0">
                <a:cs typeface="Segoe UI" panose="020B0502040204020203" pitchFamily="34" charset="0"/>
              </a:rPr>
              <a:t>, </a:t>
            </a:r>
            <a:r>
              <a:rPr lang="en-US" sz="1200" b="1" dirty="0">
                <a:cs typeface="Segoe UI" panose="020B0502040204020203" pitchFamily="34" charset="0"/>
              </a:rPr>
              <a:t>Relocation</a:t>
            </a:r>
            <a:r>
              <a:rPr lang="en-US" sz="1200" dirty="0">
                <a:cs typeface="Segoe UI" panose="020B0502040204020203" pitchFamily="34" charset="0"/>
              </a:rPr>
              <a:t>, and </a:t>
            </a:r>
            <a:r>
              <a:rPr lang="en-US" sz="1200" b="1" dirty="0">
                <a:cs typeface="Segoe UI" panose="020B0502040204020203" pitchFamily="34" charset="0"/>
              </a:rPr>
              <a:t>Personal Reasons</a:t>
            </a:r>
            <a:r>
              <a:rPr lang="en-US" sz="1200" dirty="0">
                <a:cs typeface="Segoe UI" panose="020B0502040204020203" pitchFamily="34" charset="0"/>
              </a:rPr>
              <a:t> are mainly </a:t>
            </a:r>
            <a:r>
              <a:rPr lang="en-US" sz="1200" b="1" dirty="0">
                <a:cs typeface="Segoe UI" panose="020B0502040204020203" pitchFamily="34" charset="0"/>
              </a:rPr>
              <a:t>voluntary exits</a:t>
            </a:r>
            <a:r>
              <a:rPr lang="en-US" sz="1200" dirty="0">
                <a:cs typeface="Segoe UI" panose="020B0502040204020203" pitchFamily="34" charset="0"/>
              </a:rPr>
              <a:t>, reflecting external pull factors.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The mix shows that about half of exits are within company control (involuntary) and half are employee-driven (voluntary).</a:t>
            </a:r>
          </a:p>
          <a:p>
            <a:pPr marL="0" indent="0">
              <a:buNone/>
            </a:pPr>
            <a:r>
              <a:rPr lang="en-US" sz="1200" b="1" dirty="0">
                <a:cs typeface="Segoe UI" panose="020B0502040204020203" pitchFamily="34" charset="0"/>
              </a:rPr>
              <a:t>   4. Exit Reason by Department (Table View)</a:t>
            </a:r>
          </a:p>
          <a:p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Client Service (75)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Business Development (72)</a:t>
            </a:r>
            <a:r>
              <a:rPr lang="en-US" sz="1200" dirty="0">
                <a:cs typeface="Segoe UI" panose="020B0502040204020203" pitchFamily="34" charset="0"/>
              </a:rPr>
              <a:t> departments record the highest total exits.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</a:t>
            </a:r>
            <a:r>
              <a:rPr lang="en-US" sz="1200" b="1" dirty="0">
                <a:cs typeface="Segoe UI" panose="020B0502040204020203" pitchFamily="34" charset="0"/>
              </a:rPr>
              <a:t>Finance</a:t>
            </a:r>
            <a:r>
              <a:rPr lang="en-US" sz="1200" dirty="0">
                <a:cs typeface="Segoe UI" panose="020B0502040204020203" pitchFamily="34" charset="0"/>
              </a:rPr>
              <a:t> and </a:t>
            </a:r>
            <a:r>
              <a:rPr lang="en-US" sz="1200" b="1" dirty="0">
                <a:cs typeface="Segoe UI" panose="020B0502040204020203" pitchFamily="34" charset="0"/>
              </a:rPr>
              <a:t>HR</a:t>
            </a:r>
            <a:r>
              <a:rPr lang="en-US" sz="1200" dirty="0">
                <a:cs typeface="Segoe UI" panose="020B0502040204020203" pitchFamily="34" charset="0"/>
              </a:rPr>
              <a:t> have the lowest exit counts, indicating better retention.</a:t>
            </a:r>
            <a:br>
              <a:rPr lang="en-US" sz="1200" dirty="0">
                <a:cs typeface="Segoe UI" panose="020B0502040204020203" pitchFamily="34" charset="0"/>
              </a:rPr>
            </a:br>
            <a:r>
              <a:rPr lang="en-US" sz="1200" dirty="0">
                <a:cs typeface="Segoe UI" panose="020B0502040204020203" pitchFamily="34" charset="0"/>
              </a:rPr>
              <a:t>▪ Common reasons across most departments are </a:t>
            </a:r>
            <a:r>
              <a:rPr lang="en-US" sz="1200" b="1" dirty="0">
                <a:cs typeface="Segoe UI" panose="020B0502040204020203" pitchFamily="34" charset="0"/>
              </a:rPr>
              <a:t>Health Issues</a:t>
            </a:r>
            <a:r>
              <a:rPr lang="en-US" sz="1200" dirty="0">
                <a:cs typeface="Segoe UI" panose="020B0502040204020203" pitchFamily="34" charset="0"/>
              </a:rPr>
              <a:t>, </a:t>
            </a:r>
            <a:r>
              <a:rPr lang="en-US" sz="1200" b="1" dirty="0">
                <a:cs typeface="Segoe UI" panose="020B0502040204020203" pitchFamily="34" charset="0"/>
              </a:rPr>
              <a:t>Restructuring</a:t>
            </a:r>
            <a:r>
              <a:rPr lang="en-US" sz="1200" dirty="0">
                <a:cs typeface="Segoe UI" panose="020B0502040204020203" pitchFamily="34" charset="0"/>
              </a:rPr>
              <a:t>, and </a:t>
            </a:r>
            <a:r>
              <a:rPr lang="en-US" sz="1200" b="1" dirty="0">
                <a:cs typeface="Segoe UI" panose="020B0502040204020203" pitchFamily="34" charset="0"/>
              </a:rPr>
              <a:t>Better Opportunities</a:t>
            </a:r>
            <a:r>
              <a:rPr lang="en-US" sz="1200" dirty="0">
                <a:cs typeface="Segoe UI Light" panose="020B0502040204020203" pitchFamily="34" charset="0"/>
              </a:rPr>
              <a:t>.</a:t>
            </a:r>
          </a:p>
          <a:p>
            <a:r>
              <a:rPr lang="en-US" sz="1400" b="1" dirty="0">
                <a:cs typeface="Segoe UI Light" panose="020B0502040204020203" pitchFamily="34" charset="0"/>
              </a:rPr>
              <a:t>Overall Insight</a:t>
            </a:r>
          </a:p>
          <a:p>
            <a:r>
              <a:rPr lang="en-US" sz="1200" dirty="0"/>
              <a:t>▪ A total of </a:t>
            </a:r>
            <a:r>
              <a:rPr lang="en-US" sz="1200" b="1" dirty="0"/>
              <a:t>432 exits</a:t>
            </a:r>
            <a:r>
              <a:rPr lang="en-US" sz="1200" dirty="0"/>
              <a:t> were recorded , mainly driven by </a:t>
            </a:r>
            <a:r>
              <a:rPr lang="en-US" sz="1200" b="1" dirty="0"/>
              <a:t>health-related issues, restructuring, and external job opportunities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▪ Both voluntary and involuntary exits contribute significantly, indicating the need for balanced retention and wellbeing initiatives.</a:t>
            </a:r>
          </a:p>
          <a:p>
            <a:r>
              <a:rPr lang="en-US" sz="1400" b="1" dirty="0"/>
              <a:t>Key Suggestions</a:t>
            </a:r>
          </a:p>
          <a:p>
            <a:r>
              <a:rPr lang="en-US" sz="1200" dirty="0"/>
              <a:t>▪ Strengthen </a:t>
            </a:r>
            <a:r>
              <a:rPr lang="en-US" sz="1200" b="1" dirty="0"/>
              <a:t>employee health and wellness programs</a:t>
            </a:r>
            <a:r>
              <a:rPr lang="en-US" sz="1200" dirty="0"/>
              <a:t> since health issues are the top exit reason.</a:t>
            </a:r>
            <a:br>
              <a:rPr lang="en-US" sz="1200" dirty="0"/>
            </a:br>
            <a:r>
              <a:rPr lang="en-US" sz="1200" dirty="0"/>
              <a:t>▪ Improve </a:t>
            </a:r>
            <a:r>
              <a:rPr lang="en-US" sz="1200" b="1" dirty="0"/>
              <a:t>restructuring and termination communication</a:t>
            </a:r>
            <a:r>
              <a:rPr lang="en-US" sz="1200" dirty="0"/>
              <a:t> to reduce involuntary exits.</a:t>
            </a:r>
            <a:br>
              <a:rPr lang="en-US" sz="1200" dirty="0"/>
            </a:br>
            <a:r>
              <a:rPr lang="en-US" sz="1200" dirty="0"/>
              <a:t>▪ Focus on </a:t>
            </a:r>
            <a:r>
              <a:rPr lang="en-US" sz="1200" b="1" dirty="0"/>
              <a:t>career growth and internal promotion paths</a:t>
            </a:r>
            <a:r>
              <a:rPr lang="en-US" sz="1200" dirty="0"/>
              <a:t> to prevent employees from leaving for better opportunities.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dirty="0" err="1"/>
              <a:t>Prioritise</a:t>
            </a:r>
            <a:r>
              <a:rPr lang="en-US" sz="1200" dirty="0"/>
              <a:t> </a:t>
            </a:r>
            <a:r>
              <a:rPr lang="en-US" sz="1200" b="1" dirty="0"/>
              <a:t>retention in Client Service and Business Development</a:t>
            </a:r>
            <a:r>
              <a:rPr lang="en-US" sz="1200" dirty="0"/>
              <a:t> departments where exits are highest.</a:t>
            </a:r>
            <a:br>
              <a:rPr lang="en-US" sz="1200" dirty="0"/>
            </a:br>
            <a:r>
              <a:rPr lang="en-US" sz="1200" dirty="0"/>
              <a:t>▪ Conduct </a:t>
            </a:r>
            <a:r>
              <a:rPr lang="en-US" sz="1200" b="1" dirty="0"/>
              <a:t>stay interviews</a:t>
            </a:r>
            <a:r>
              <a:rPr lang="en-US" sz="1200" dirty="0"/>
              <a:t> to understand and address reasons for voluntary resignations early.</a:t>
            </a:r>
            <a:br>
              <a:rPr lang="en-US" sz="1200" dirty="0"/>
            </a:br>
            <a:r>
              <a:rPr lang="en-US" sz="1200" dirty="0"/>
              <a:t>▪ Use </a:t>
            </a:r>
            <a:r>
              <a:rPr lang="en-US" sz="1200" b="1" dirty="0"/>
              <a:t>exit feedback data</a:t>
            </a:r>
            <a:r>
              <a:rPr lang="en-US" sz="1200" dirty="0"/>
              <a:t> to identify recurring problems and act before they escalate.</a:t>
            </a:r>
          </a:p>
          <a:p>
            <a:endParaRPr lang="en-US" sz="1300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6EB87-9138-1359-1CC8-3C673C2F6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1" y="571143"/>
            <a:ext cx="4604320" cy="25149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3509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6B30-F162-7D10-4568-CEC513300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0639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Manager wise exit feedback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BB4C-1A45-97AA-BF31-47BFCC800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8000"/>
            <a:ext cx="12192000" cy="6350000"/>
          </a:xfrm>
        </p:spPr>
        <p:txBody>
          <a:bodyPr>
            <a:normAutofit/>
          </a:bodyPr>
          <a:lstStyle/>
          <a:p>
            <a:r>
              <a:rPr lang="en-US" sz="1200" b="1" dirty="0"/>
              <a:t>1. Reporting Manager Count by Sentiment Score</a:t>
            </a:r>
          </a:p>
          <a:p>
            <a:r>
              <a:rPr lang="en-US" sz="1200" dirty="0"/>
              <a:t>▪ Most managers have </a:t>
            </a:r>
            <a:r>
              <a:rPr lang="en-US" sz="1200" b="1" dirty="0"/>
              <a:t>average sentiment scores between 2–4</a:t>
            </a:r>
            <a:r>
              <a:rPr lang="en-US" sz="1200" dirty="0"/>
              <a:t>, showing moderate employee satisfaction.</a:t>
            </a:r>
            <a:br>
              <a:rPr lang="en-US" sz="1200" dirty="0"/>
            </a:br>
            <a:r>
              <a:rPr lang="en-US" sz="1200" dirty="0"/>
              <a:t>▪ A small group of managers achieved a </a:t>
            </a:r>
            <a:r>
              <a:rPr lang="en-US" sz="1200" b="1" dirty="0"/>
              <a:t>score of 5</a:t>
            </a:r>
            <a:r>
              <a:rPr lang="en-US" sz="1200" dirty="0"/>
              <a:t>, indicating high employee trust and positive feedback.</a:t>
            </a:r>
            <a:br>
              <a:rPr lang="en-US" sz="1200" dirty="0"/>
            </a:br>
            <a:r>
              <a:rPr lang="en-US" sz="1200" dirty="0"/>
              <a:t>▪ Few managers scored </a:t>
            </a:r>
            <a:r>
              <a:rPr lang="en-US" sz="1200" b="1" dirty="0"/>
              <a:t>1–2</a:t>
            </a:r>
            <a:r>
              <a:rPr lang="en-US" sz="1200" dirty="0"/>
              <a:t>, which highlights potential management or communication issues.</a:t>
            </a:r>
          </a:p>
          <a:p>
            <a:r>
              <a:rPr lang="en-US" sz="1200" b="1" dirty="0"/>
              <a:t>2. Average Sentiment Score by Reporting Manager</a:t>
            </a:r>
          </a:p>
          <a:p>
            <a:r>
              <a:rPr lang="en-US" sz="1200" dirty="0"/>
              <a:t>▪ Managers like </a:t>
            </a:r>
            <a:r>
              <a:rPr lang="en-US" sz="1200" b="1" dirty="0"/>
              <a:t>Alexandra Bates</a:t>
            </a:r>
            <a:r>
              <a:rPr lang="en-US" sz="1200" dirty="0"/>
              <a:t> and </a:t>
            </a:r>
            <a:r>
              <a:rPr lang="en-US" sz="1200" b="1" dirty="0"/>
              <a:t>Alexander Salazar</a:t>
            </a:r>
            <a:r>
              <a:rPr lang="en-US" sz="1200" dirty="0"/>
              <a:t> consistently received the highest sentiment scores (5.0).</a:t>
            </a:r>
            <a:br>
              <a:rPr lang="en-US" sz="1200" dirty="0"/>
            </a:br>
            <a:r>
              <a:rPr lang="en-US" sz="1200" dirty="0"/>
              <a:t>▪ Several managers recorded low sentiment scores (1.0–2.0), which signals dissatisfaction among their teams.</a:t>
            </a:r>
            <a:br>
              <a:rPr lang="en-US" sz="1200" dirty="0"/>
            </a:br>
            <a:r>
              <a:rPr lang="en-US" sz="1200" dirty="0"/>
              <a:t>▪ These score differences indicate </a:t>
            </a:r>
            <a:r>
              <a:rPr lang="en-US" sz="1200" b="1" dirty="0"/>
              <a:t>uneven leadership quality</a:t>
            </a:r>
            <a:r>
              <a:rPr lang="en-US" sz="1200" dirty="0"/>
              <a:t> across departments.</a:t>
            </a:r>
          </a:p>
          <a:p>
            <a:r>
              <a:rPr lang="en-US" sz="1200" b="1" dirty="0"/>
              <a:t>3. Manager vs Exit Reason Table</a:t>
            </a:r>
          </a:p>
          <a:p>
            <a:pPr marL="0" indent="0">
              <a:buNone/>
            </a:pPr>
            <a:r>
              <a:rPr lang="en-US" sz="1200" dirty="0"/>
              <a:t>▪        Many exits due to </a:t>
            </a:r>
            <a:r>
              <a:rPr lang="en-US" sz="1200" b="1" dirty="0"/>
              <a:t>performance issues, restructuring,</a:t>
            </a:r>
          </a:p>
          <a:p>
            <a:pPr marL="0" indent="0">
              <a:buNone/>
            </a:pPr>
            <a:r>
              <a:rPr lang="en-US" sz="1200" b="1" dirty="0"/>
              <a:t>        or better opportunities</a:t>
            </a:r>
            <a:r>
              <a:rPr lang="en-US" sz="1200" dirty="0"/>
              <a:t> are linked to managers with lower sentiment scores.</a:t>
            </a:r>
            <a:br>
              <a:rPr lang="en-US" sz="1200" dirty="0"/>
            </a:br>
            <a:r>
              <a:rPr lang="en-US" sz="1200" dirty="0"/>
              <a:t>▪       </a:t>
            </a:r>
            <a:r>
              <a:rPr lang="en-US" sz="1200" b="1" dirty="0"/>
              <a:t>Business Development</a:t>
            </a:r>
            <a:r>
              <a:rPr lang="en-US" sz="1200" dirty="0"/>
              <a:t> shows higher exits under managers with low sentiment, suggesting leadership or workload challenges.</a:t>
            </a:r>
            <a:br>
              <a:rPr lang="en-US" sz="1200" dirty="0"/>
            </a:br>
            <a:r>
              <a:rPr lang="en-US" sz="1200" dirty="0"/>
              <a:t>▪       Managers with better sentiment scores (4–5) often have exits due to </a:t>
            </a:r>
            <a:r>
              <a:rPr lang="en-US" sz="1200" b="1" dirty="0"/>
              <a:t>relocation or retirement</a:t>
            </a:r>
            <a:r>
              <a:rPr lang="en-US" sz="1200" dirty="0"/>
              <a:t>, implying satisfied employees leaving for external reasons.</a:t>
            </a:r>
          </a:p>
          <a:p>
            <a:r>
              <a:rPr lang="en-US" sz="1200" b="1" dirty="0"/>
              <a:t>Overall Insights</a:t>
            </a:r>
          </a:p>
          <a:p>
            <a:r>
              <a:rPr lang="en-US" sz="1200" dirty="0"/>
              <a:t>▪ Average sentiment score across managers is around </a:t>
            </a:r>
            <a:r>
              <a:rPr lang="en-US" sz="1200" b="1" dirty="0"/>
              <a:t>2.8</a:t>
            </a:r>
            <a:r>
              <a:rPr lang="en-US" sz="1200" dirty="0"/>
              <a:t>, showing room for improvement in people management.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b="1" dirty="0"/>
              <a:t>Business Development</a:t>
            </a:r>
            <a:r>
              <a:rPr lang="en-US" sz="1200" dirty="0"/>
              <a:t> appears to have the most exits and lower manager sentiment overall.</a:t>
            </a:r>
            <a:br>
              <a:rPr lang="en-US" sz="1200" dirty="0"/>
            </a:br>
            <a:r>
              <a:rPr lang="en-US" sz="1200" dirty="0"/>
              <a:t>▪ Positive manager feedback correlates strongly with fewer voluntary exits.</a:t>
            </a:r>
          </a:p>
          <a:p>
            <a:r>
              <a:rPr lang="en-US" sz="1200" b="1" dirty="0"/>
              <a:t>Key Suggestions</a:t>
            </a:r>
          </a:p>
          <a:p>
            <a:r>
              <a:rPr lang="en-US" sz="1200" dirty="0"/>
              <a:t>▪ Provide </a:t>
            </a:r>
            <a:r>
              <a:rPr lang="en-US" sz="1200" b="1" dirty="0"/>
              <a:t>leadership and communication training</a:t>
            </a:r>
            <a:r>
              <a:rPr lang="en-US" sz="1200" dirty="0"/>
              <a:t> for managers with low sentiment scores.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dirty="0" err="1"/>
              <a:t>Recognise</a:t>
            </a:r>
            <a:r>
              <a:rPr lang="en-US" sz="1200" dirty="0"/>
              <a:t> and </a:t>
            </a:r>
            <a:r>
              <a:rPr lang="en-US" sz="1200" b="1" dirty="0"/>
              <a:t>reward high-rated managers</a:t>
            </a:r>
            <a:r>
              <a:rPr lang="en-US" sz="1200" dirty="0"/>
              <a:t> to reinforce positive management practices.</a:t>
            </a:r>
            <a:br>
              <a:rPr lang="en-US" sz="1200" dirty="0"/>
            </a:br>
            <a:r>
              <a:rPr lang="en-US" sz="1200" dirty="0"/>
              <a:t>▪ Focus on </a:t>
            </a:r>
            <a:r>
              <a:rPr lang="en-US" sz="1200" b="1" dirty="0"/>
              <a:t>improving manager-employee relationships</a:t>
            </a:r>
            <a:r>
              <a:rPr lang="en-US" sz="1200" dirty="0"/>
              <a:t> in the </a:t>
            </a:r>
            <a:r>
              <a:rPr lang="en-US" sz="1200" b="1" dirty="0"/>
              <a:t>Business Development</a:t>
            </a:r>
            <a:r>
              <a:rPr lang="en-US" sz="1200" dirty="0"/>
              <a:t> department where sentiment is lowest.</a:t>
            </a:r>
            <a:br>
              <a:rPr lang="en-US" sz="1200" dirty="0"/>
            </a:br>
            <a:r>
              <a:rPr lang="en-US" sz="1200" dirty="0"/>
              <a:t>▪ Conduct </a:t>
            </a:r>
            <a:r>
              <a:rPr lang="en-US" sz="1200" b="1" dirty="0"/>
              <a:t>regular employee feedback surveys</a:t>
            </a:r>
            <a:r>
              <a:rPr lang="en-US" sz="1200" dirty="0"/>
              <a:t> to track changes in sentiment and detect issues early.</a:t>
            </a:r>
            <a:br>
              <a:rPr lang="en-US" sz="1200" dirty="0"/>
            </a:br>
            <a:r>
              <a:rPr lang="en-US" sz="1200" dirty="0"/>
              <a:t>▪ Pair </a:t>
            </a:r>
            <a:r>
              <a:rPr lang="en-US" sz="1200" b="1" dirty="0"/>
              <a:t>low-performing managers</a:t>
            </a:r>
            <a:r>
              <a:rPr lang="en-US" sz="1200" dirty="0"/>
              <a:t> with mentors or HR partners for coaching and improvement.</a:t>
            </a:r>
          </a:p>
          <a:p>
            <a:endParaRPr lang="en-US" sz="12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62B80-0C6A-9B1C-6B59-E08857A2E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369" y="629880"/>
            <a:ext cx="4167148" cy="23800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912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409A-F432-32CD-E384-7517C4A98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93699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/>
              <a:t>Country Wise Workforce Comparison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4319A-2688-28E6-FDB8-2E00F002F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3700"/>
            <a:ext cx="12192000" cy="6464300"/>
          </a:xfrm>
        </p:spPr>
        <p:txBody>
          <a:bodyPr>
            <a:normAutofit/>
          </a:bodyPr>
          <a:lstStyle/>
          <a:p>
            <a:r>
              <a:rPr lang="en-US" sz="1200" b="1" dirty="0"/>
              <a:t>Insights</a:t>
            </a:r>
          </a:p>
          <a:p>
            <a:r>
              <a:rPr lang="en-US" sz="1200" b="1" dirty="0"/>
              <a:t>1. Performance Rating Trend by Year and Country</a:t>
            </a:r>
          </a:p>
          <a:p>
            <a:r>
              <a:rPr lang="en-US" sz="1200" dirty="0"/>
              <a:t>▪ Performance ratings remain consistent across all countries (around 3.0).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b="1" dirty="0"/>
              <a:t>UK and US</a:t>
            </a:r>
            <a:r>
              <a:rPr lang="en-US" sz="1200" dirty="0"/>
              <a:t> show slightly higher ratings, while </a:t>
            </a:r>
            <a:r>
              <a:rPr lang="en-US" sz="1200" b="1" dirty="0"/>
              <a:t>India</a:t>
            </a:r>
            <a:r>
              <a:rPr lang="en-US" sz="1200" dirty="0"/>
              <a:t> and </a:t>
            </a:r>
            <a:r>
              <a:rPr lang="en-US" sz="1200" b="1" dirty="0"/>
              <a:t>Singapore</a:t>
            </a:r>
            <a:r>
              <a:rPr lang="en-US" sz="1200" dirty="0"/>
              <a:t> remain stable but marginally lower.</a:t>
            </a:r>
            <a:br>
              <a:rPr lang="en-US" sz="1200" dirty="0"/>
            </a:br>
            <a:r>
              <a:rPr lang="en-US" sz="1200" dirty="0"/>
              <a:t>▪ A small dip in 2023 indicates reduced performance consistency post-2021.</a:t>
            </a:r>
          </a:p>
          <a:p>
            <a:r>
              <a:rPr lang="en-US" sz="1200" b="1" dirty="0"/>
              <a:t>2. Active Employees &amp; Attrition Rate by Country</a:t>
            </a:r>
          </a:p>
          <a:p>
            <a:r>
              <a:rPr lang="en-US" sz="1200" dirty="0"/>
              <a:t>▪ </a:t>
            </a:r>
            <a:r>
              <a:rPr lang="en-US" sz="1200" b="1" dirty="0"/>
              <a:t>UAE (42%)</a:t>
            </a:r>
            <a:r>
              <a:rPr lang="en-US" sz="1200" dirty="0"/>
              <a:t> and </a:t>
            </a:r>
            <a:r>
              <a:rPr lang="en-US" sz="1200" b="1" dirty="0"/>
              <a:t>US (39.7%)</a:t>
            </a:r>
            <a:r>
              <a:rPr lang="en-US" sz="1200" dirty="0"/>
              <a:t> have the highest attrition rates.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b="1" dirty="0"/>
              <a:t>UK (35.8%)</a:t>
            </a:r>
            <a:r>
              <a:rPr lang="en-US" sz="1200" dirty="0"/>
              <a:t> shows the lowest attrition, suggesting stronger retention.</a:t>
            </a:r>
            <a:br>
              <a:rPr lang="en-US" sz="1200" dirty="0"/>
            </a:br>
            <a:r>
              <a:rPr lang="en-US" sz="1200" dirty="0"/>
              <a:t>▪ Employee count is highest in </a:t>
            </a:r>
            <a:r>
              <a:rPr lang="en-US" sz="1200" b="1" dirty="0"/>
              <a:t>Singapore</a:t>
            </a:r>
            <a:r>
              <a:rPr lang="en-US" sz="1200" dirty="0"/>
              <a:t>, yet its attrition rate remains moderate.</a:t>
            </a:r>
          </a:p>
          <a:p>
            <a:r>
              <a:rPr lang="en-US" sz="1200" b="1" dirty="0"/>
              <a:t>3. Average Salary by Country</a:t>
            </a:r>
          </a:p>
          <a:p>
            <a:r>
              <a:rPr lang="en-US" sz="1200" dirty="0"/>
              <a:t>▪ Salaries are closely aligned, ranging between </a:t>
            </a:r>
            <a:r>
              <a:rPr lang="en-US" sz="1200" b="1" dirty="0"/>
              <a:t>86K–90K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b="1" dirty="0"/>
              <a:t>Singapore</a:t>
            </a:r>
            <a:r>
              <a:rPr lang="en-US" sz="1200" dirty="0"/>
              <a:t> leads with the highest average salary (90K), while </a:t>
            </a:r>
            <a:r>
              <a:rPr lang="en-US" sz="1200" b="1" dirty="0"/>
              <a:t>UAE</a:t>
            </a:r>
            <a:r>
              <a:rPr lang="en-US" sz="1200" dirty="0"/>
              <a:t> has the lowest (86K).</a:t>
            </a:r>
            <a:br>
              <a:rPr lang="en-US" sz="1200" dirty="0"/>
            </a:br>
            <a:r>
              <a:rPr lang="en-US" sz="1200" dirty="0"/>
              <a:t>▪ Despite similar pay levels, attrition varies, indicating other non-monetary factors influencing exits.</a:t>
            </a:r>
          </a:p>
          <a:p>
            <a:r>
              <a:rPr lang="en-US" sz="1200" b="1" dirty="0"/>
              <a:t>Key Suggestions</a:t>
            </a:r>
          </a:p>
          <a:p>
            <a:r>
              <a:rPr lang="en-US" sz="1200" dirty="0"/>
              <a:t>▪ Focus on </a:t>
            </a:r>
            <a:r>
              <a:rPr lang="en-US" sz="1200" b="1" dirty="0"/>
              <a:t>retention strategies</a:t>
            </a:r>
            <a:r>
              <a:rPr lang="en-US" sz="1200" dirty="0"/>
              <a:t> in </a:t>
            </a:r>
            <a:r>
              <a:rPr lang="en-US" sz="1200" b="1" dirty="0"/>
              <a:t>UAE and US</a:t>
            </a:r>
            <a:r>
              <a:rPr lang="en-US" sz="1200" dirty="0"/>
              <a:t>, where attrition rates are the highest.</a:t>
            </a:r>
            <a:br>
              <a:rPr lang="en-US" sz="1200" dirty="0"/>
            </a:br>
            <a:r>
              <a:rPr lang="en-US" sz="1200" dirty="0"/>
              <a:t>▪ Review </a:t>
            </a:r>
            <a:r>
              <a:rPr lang="en-US" sz="1200" b="1" dirty="0"/>
              <a:t>workplace environment and management practices</a:t>
            </a:r>
            <a:r>
              <a:rPr lang="en-US" sz="1200" dirty="0"/>
              <a:t> in these countries since pay alone isn’t reducing attrition.</a:t>
            </a:r>
            <a:br>
              <a:rPr lang="en-US" sz="1200" dirty="0"/>
            </a:br>
            <a:r>
              <a:rPr lang="en-US" sz="1200" dirty="0"/>
              <a:t>▪ Encourage </a:t>
            </a:r>
            <a:r>
              <a:rPr lang="en-US" sz="1200" b="1" dirty="0"/>
              <a:t>knowledge sharing from UK teams</a:t>
            </a:r>
            <a:r>
              <a:rPr lang="en-US" sz="1200" dirty="0"/>
              <a:t>, where retention is best, to replicate their success model.</a:t>
            </a:r>
            <a:br>
              <a:rPr lang="en-US" sz="1200" dirty="0"/>
            </a:br>
            <a:r>
              <a:rPr lang="en-US" sz="1200" dirty="0"/>
              <a:t>▪ Introduce </a:t>
            </a:r>
            <a:r>
              <a:rPr lang="en-US" sz="1200" b="1" dirty="0"/>
              <a:t>career development programs</a:t>
            </a:r>
            <a:r>
              <a:rPr lang="en-US" sz="1200" dirty="0"/>
              <a:t> and </a:t>
            </a:r>
            <a:r>
              <a:rPr lang="en-US" sz="1200" b="1" dirty="0"/>
              <a:t>employee engagement activities</a:t>
            </a:r>
            <a:r>
              <a:rPr lang="en-US" sz="1200" dirty="0"/>
              <a:t> in India and Singapore to sustain stable performance.</a:t>
            </a:r>
            <a:br>
              <a:rPr lang="en-US" sz="1200" dirty="0"/>
            </a:br>
            <a:r>
              <a:rPr lang="en-US" sz="1200" dirty="0"/>
              <a:t>▪ Regularly review </a:t>
            </a:r>
            <a:r>
              <a:rPr lang="en-US" sz="1200" b="1" dirty="0"/>
              <a:t>salary and benefits benchmarking</a:t>
            </a:r>
            <a:r>
              <a:rPr lang="en-US" sz="1200" dirty="0"/>
              <a:t> to ensure competitiveness across regions.</a:t>
            </a:r>
            <a:br>
              <a:rPr lang="en-US" sz="1200" dirty="0"/>
            </a:br>
            <a:r>
              <a:rPr lang="en-US" sz="1200" dirty="0"/>
              <a:t>▪ Monitor </a:t>
            </a:r>
            <a:r>
              <a:rPr lang="en-US" sz="1200" b="1" dirty="0"/>
              <a:t>post-2021 performance trends</a:t>
            </a:r>
            <a:r>
              <a:rPr lang="en-US" sz="1200" dirty="0"/>
              <a:t> closely to identify factors behind slight performance dips.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CEC6A-18FA-FBBC-4D95-14C6310AB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1" y="787398"/>
            <a:ext cx="4669474" cy="2641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977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4976-6A75-2333-05A0-3EC0FFA1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19099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Tenure Vs Performance</a:t>
            </a:r>
            <a:endParaRPr lang="en-IN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20C6-B275-E143-E29E-4B6B0714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19100"/>
            <a:ext cx="12192000" cy="6438899"/>
          </a:xfrm>
        </p:spPr>
        <p:txBody>
          <a:bodyPr>
            <a:normAutofit/>
          </a:bodyPr>
          <a:lstStyle/>
          <a:p>
            <a:r>
              <a:rPr lang="en-US" sz="1600" b="1" dirty="0"/>
              <a:t>Insights</a:t>
            </a:r>
          </a:p>
          <a:p>
            <a:r>
              <a:rPr lang="en-US" sz="1600" dirty="0"/>
              <a:t>▪ </a:t>
            </a:r>
            <a:r>
              <a:rPr lang="en-US" sz="1600" b="1" dirty="0"/>
              <a:t>Engineering</a:t>
            </a:r>
            <a:r>
              <a:rPr lang="en-US" sz="1600" dirty="0"/>
              <a:t> department has the </a:t>
            </a:r>
            <a:r>
              <a:rPr lang="en-US" sz="1600" b="1" dirty="0"/>
              <a:t>highest average tenure (4.22 years)</a:t>
            </a:r>
            <a:r>
              <a:rPr lang="en-US" sz="1600" dirty="0"/>
              <a:t> and</a:t>
            </a:r>
          </a:p>
          <a:p>
            <a:pPr marL="0" indent="0">
              <a:buNone/>
            </a:pPr>
            <a:r>
              <a:rPr lang="en-US" sz="1600" dirty="0"/>
              <a:t> strong promotion count (103), but performance rating (2.9) is moderate,</a:t>
            </a:r>
          </a:p>
          <a:p>
            <a:pPr marL="0" indent="0">
              <a:buNone/>
            </a:pPr>
            <a:r>
              <a:rPr lang="en-US" sz="1600" dirty="0"/>
              <a:t> indicating long-serving employees with room for upskilling.</a:t>
            </a:r>
          </a:p>
          <a:p>
            <a:r>
              <a:rPr lang="en-US" sz="1600" dirty="0"/>
              <a:t>▪ </a:t>
            </a:r>
            <a:r>
              <a:rPr lang="en-US" sz="1600" b="1" dirty="0"/>
              <a:t>Client Service</a:t>
            </a:r>
            <a:r>
              <a:rPr lang="en-US" sz="1600" dirty="0"/>
              <a:t> shows a </a:t>
            </a:r>
            <a:r>
              <a:rPr lang="en-US" sz="1600" b="1" dirty="0"/>
              <a:t>balanced tenure (3.95 years)</a:t>
            </a:r>
            <a:r>
              <a:rPr lang="en-US" sz="1600" dirty="0"/>
              <a:t> and</a:t>
            </a:r>
          </a:p>
          <a:p>
            <a:pPr marL="0" indent="0">
              <a:buNone/>
            </a:pPr>
            <a:r>
              <a:rPr lang="en-US" sz="1600" dirty="0"/>
              <a:t> the </a:t>
            </a:r>
            <a:r>
              <a:rPr lang="en-US" sz="1600" b="1" dirty="0"/>
              <a:t>highest performance rating (3.12)</a:t>
            </a:r>
            <a:r>
              <a:rPr lang="en-US" sz="1600" dirty="0"/>
              <a:t> along with good promotion activity (102),</a:t>
            </a:r>
          </a:p>
          <a:p>
            <a:pPr marL="0" indent="0">
              <a:buNone/>
            </a:pPr>
            <a:r>
              <a:rPr lang="en-US" sz="1600" dirty="0"/>
              <a:t> suggesting a healthy retention–performance balance.</a:t>
            </a:r>
          </a:p>
          <a:p>
            <a:r>
              <a:rPr lang="en-US" sz="1600" dirty="0"/>
              <a:t>▪ </a:t>
            </a:r>
            <a:r>
              <a:rPr lang="en-US" sz="1600" b="1" dirty="0"/>
              <a:t>Finance</a:t>
            </a:r>
            <a:r>
              <a:rPr lang="en-US" sz="1600" dirty="0"/>
              <a:t> and </a:t>
            </a:r>
            <a:r>
              <a:rPr lang="en-US" sz="1600" b="1" dirty="0"/>
              <a:t>HR</a:t>
            </a:r>
            <a:r>
              <a:rPr lang="en-US" sz="1600" dirty="0"/>
              <a:t> have stable tenures (~4 years) but</a:t>
            </a:r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b="1" dirty="0"/>
              <a:t>lower performance ratings (2.9–2.92)</a:t>
            </a:r>
            <a:r>
              <a:rPr lang="en-US" sz="1600" dirty="0"/>
              <a:t>, hinting at stagnation or lack of motivation over time.</a:t>
            </a:r>
          </a:p>
          <a:p>
            <a:r>
              <a:rPr lang="en-US" sz="1600" dirty="0"/>
              <a:t>▪ </a:t>
            </a:r>
            <a:r>
              <a:rPr lang="en-US" sz="1600" b="1" dirty="0"/>
              <a:t>Sales</a:t>
            </a:r>
            <a:r>
              <a:rPr lang="en-US" sz="1600" dirty="0"/>
              <a:t> and </a:t>
            </a:r>
            <a:r>
              <a:rPr lang="en-US" sz="1600" b="1" dirty="0"/>
              <a:t>Marketing</a:t>
            </a:r>
            <a:r>
              <a:rPr lang="en-US" sz="1600" dirty="0"/>
              <a:t> have </a:t>
            </a:r>
            <a:r>
              <a:rPr lang="en-US" sz="1600" b="1" dirty="0"/>
              <a:t>shorter tenures (3.7 years)</a:t>
            </a:r>
            <a:r>
              <a:rPr lang="en-US" sz="1600" dirty="0"/>
              <a:t> with average performance (~3.0), </a:t>
            </a:r>
          </a:p>
          <a:p>
            <a:pPr marL="0" indent="0">
              <a:buNone/>
            </a:pPr>
            <a:r>
              <a:rPr lang="en-US" sz="1600" dirty="0"/>
              <a:t>possibly due to high-pressure roles and faster employee turnover.</a:t>
            </a:r>
          </a:p>
          <a:p>
            <a:r>
              <a:rPr lang="en-US" sz="1600" dirty="0"/>
              <a:t>▪ </a:t>
            </a:r>
            <a:r>
              <a:rPr lang="en-US" sz="1600" b="1" dirty="0"/>
              <a:t>Business Development</a:t>
            </a:r>
            <a:r>
              <a:rPr lang="en-US" sz="1600" dirty="0"/>
              <a:t> has </a:t>
            </a:r>
            <a:r>
              <a:rPr lang="en-US" sz="1600" b="1" dirty="0"/>
              <a:t>short tenure (3.6 years)</a:t>
            </a:r>
            <a:r>
              <a:rPr lang="en-US" sz="1600" dirty="0"/>
              <a:t> and moderate performance (3.03), </a:t>
            </a:r>
          </a:p>
          <a:p>
            <a:pPr marL="0" indent="0">
              <a:buNone/>
            </a:pPr>
            <a:r>
              <a:rPr lang="en-US" sz="1600" dirty="0"/>
              <a:t>showing a need for better retention and performance support.</a:t>
            </a:r>
          </a:p>
          <a:p>
            <a:r>
              <a:rPr lang="en-US" sz="1600" b="1" dirty="0"/>
              <a:t>Key Suggestions</a:t>
            </a:r>
          </a:p>
          <a:p>
            <a:r>
              <a:rPr lang="en-US" sz="1600" dirty="0"/>
              <a:t>▪ </a:t>
            </a:r>
            <a:r>
              <a:rPr lang="en-US" sz="1600" b="1" dirty="0"/>
              <a:t>Upskill long-tenured employees</a:t>
            </a:r>
            <a:r>
              <a:rPr lang="en-US" sz="1600" dirty="0"/>
              <a:t> in departments like </a:t>
            </a:r>
            <a:r>
              <a:rPr lang="en-US" sz="1600" b="1" dirty="0"/>
              <a:t>Engineering, Finance, and HR</a:t>
            </a:r>
            <a:r>
              <a:rPr lang="en-US" sz="1600" dirty="0"/>
              <a:t> to sustain performance over time.</a:t>
            </a:r>
            <a:br>
              <a:rPr lang="en-US" sz="1600" dirty="0"/>
            </a:br>
            <a:r>
              <a:rPr lang="en-US" sz="1600" dirty="0"/>
              <a:t>▪ Strengthen </a:t>
            </a:r>
            <a:r>
              <a:rPr lang="en-US" sz="1600" b="1" dirty="0"/>
              <a:t>career growth and recognition programs</a:t>
            </a:r>
            <a:r>
              <a:rPr lang="en-US" sz="1600" dirty="0"/>
              <a:t> in </a:t>
            </a:r>
            <a:r>
              <a:rPr lang="en-US" sz="1600" b="1" dirty="0"/>
              <a:t>Sales and Business Development</a:t>
            </a:r>
            <a:r>
              <a:rPr lang="en-US" sz="1600" dirty="0"/>
              <a:t> to improve retention.</a:t>
            </a:r>
            <a:br>
              <a:rPr lang="en-US" sz="1600" dirty="0"/>
            </a:br>
            <a:r>
              <a:rPr lang="en-US" sz="1600" dirty="0"/>
              <a:t>▪ Use </a:t>
            </a:r>
            <a:r>
              <a:rPr lang="en-US" sz="1600" b="1" dirty="0"/>
              <a:t>Client Service’s management practices</a:t>
            </a:r>
            <a:r>
              <a:rPr lang="en-US" sz="1600" dirty="0"/>
              <a:t> as a model for balancing performance and tenure across teams.</a:t>
            </a:r>
            <a:br>
              <a:rPr lang="en-US" sz="1600" dirty="0"/>
            </a:br>
            <a:r>
              <a:rPr lang="en-US" sz="1600" dirty="0"/>
              <a:t>▪ Introduce </a:t>
            </a:r>
            <a:r>
              <a:rPr lang="en-US" sz="1600" b="1" dirty="0"/>
              <a:t>learning and rotation opportunities</a:t>
            </a:r>
            <a:r>
              <a:rPr lang="en-US" sz="1600" dirty="0"/>
              <a:t> for employees with long tenure but stagnant ratings.</a:t>
            </a:r>
            <a:br>
              <a:rPr lang="en-US" sz="1600" dirty="0"/>
            </a:br>
            <a:r>
              <a:rPr lang="en-US" sz="1600" dirty="0"/>
              <a:t>▪ Monitor </a:t>
            </a:r>
            <a:r>
              <a:rPr lang="en-US" sz="1600" b="1" dirty="0"/>
              <a:t>performance vs. tenure trends quarterly</a:t>
            </a:r>
            <a:r>
              <a:rPr lang="en-US" sz="1600" dirty="0"/>
              <a:t> to detect early signs of disengagement.</a:t>
            </a:r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4AC6FB-012E-14A2-814D-A0E443641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58375"/>
            <a:ext cx="4866322" cy="2527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934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7176-E36F-3D2E-FEF7-887FC863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06399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/>
              <a:t>Organizational culture sentiment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BAA5F-873B-287C-4767-F48375B1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8000"/>
            <a:ext cx="12192000" cy="6349999"/>
          </a:xfrm>
        </p:spPr>
        <p:txBody>
          <a:bodyPr>
            <a:normAutofit/>
          </a:bodyPr>
          <a:lstStyle/>
          <a:p>
            <a:r>
              <a:rPr lang="en-US" sz="1400" b="1" dirty="0"/>
              <a:t>Insights</a:t>
            </a:r>
          </a:p>
          <a:p>
            <a:r>
              <a:rPr lang="en-US" sz="1300" b="1" dirty="0"/>
              <a:t>1. Total Employees by Department and Experience with Organization</a:t>
            </a:r>
          </a:p>
          <a:p>
            <a:r>
              <a:rPr lang="en-US" sz="1300" dirty="0"/>
              <a:t>▪ </a:t>
            </a:r>
            <a:r>
              <a:rPr lang="en-US" sz="1300" b="1" dirty="0"/>
              <a:t>Finance</a:t>
            </a:r>
            <a:r>
              <a:rPr lang="en-US" sz="1300" dirty="0"/>
              <a:t> and </a:t>
            </a:r>
            <a:r>
              <a:rPr lang="en-US" sz="1300" b="1" dirty="0"/>
              <a:t>Engineering</a:t>
            </a:r>
            <a:r>
              <a:rPr lang="en-US" sz="1300" dirty="0"/>
              <a:t> have the highest share of </a:t>
            </a:r>
            <a:r>
              <a:rPr lang="en-US" sz="1300" b="1" dirty="0"/>
              <a:t>positive and very positive</a:t>
            </a:r>
            <a:r>
              <a:rPr lang="en-US" sz="1300" dirty="0"/>
              <a:t> experiences,</a:t>
            </a:r>
          </a:p>
          <a:p>
            <a:pPr marL="0" indent="0">
              <a:buNone/>
            </a:pPr>
            <a:r>
              <a:rPr lang="en-US" sz="1300" dirty="0"/>
              <a:t>       indicating strong work satisfaction.</a:t>
            </a:r>
            <a:br>
              <a:rPr lang="en-US" sz="1300" dirty="0"/>
            </a:br>
            <a:r>
              <a:rPr lang="en-US" sz="1300" dirty="0"/>
              <a:t>▪    </a:t>
            </a:r>
            <a:r>
              <a:rPr lang="en-US" sz="1300" b="1" dirty="0"/>
              <a:t>HR</a:t>
            </a:r>
            <a:r>
              <a:rPr lang="en-US" sz="1300" dirty="0"/>
              <a:t> and </a:t>
            </a:r>
            <a:r>
              <a:rPr lang="en-US" sz="1300" b="1" dirty="0"/>
              <a:t>Sales</a:t>
            </a:r>
            <a:r>
              <a:rPr lang="en-US" sz="1300" dirty="0"/>
              <a:t> show higher </a:t>
            </a:r>
            <a:r>
              <a:rPr lang="en-US" sz="1300" b="1" dirty="0"/>
              <a:t>negative and very negative</a:t>
            </a:r>
            <a:r>
              <a:rPr lang="en-US" sz="1300" dirty="0"/>
              <a:t> experiences,</a:t>
            </a:r>
          </a:p>
          <a:p>
            <a:pPr marL="0" indent="0">
              <a:buNone/>
            </a:pPr>
            <a:r>
              <a:rPr lang="en-US" sz="1300" dirty="0"/>
              <a:t>     suggesting issues in culture, workload, or management.</a:t>
            </a:r>
            <a:br>
              <a:rPr lang="en-US" sz="1300" dirty="0"/>
            </a:br>
            <a:r>
              <a:rPr lang="en-US" sz="1300" dirty="0"/>
              <a:t>▪   </a:t>
            </a:r>
            <a:r>
              <a:rPr lang="en-US" sz="1300" b="1" dirty="0"/>
              <a:t>Client Service</a:t>
            </a:r>
            <a:r>
              <a:rPr lang="en-US" sz="1300" dirty="0"/>
              <a:t> and </a:t>
            </a:r>
            <a:r>
              <a:rPr lang="en-US" sz="1300" b="1" dirty="0"/>
              <a:t>Business Development</a:t>
            </a:r>
            <a:r>
              <a:rPr lang="en-US" sz="1300" dirty="0"/>
              <a:t> have a balanced mix, </a:t>
            </a:r>
          </a:p>
          <a:p>
            <a:pPr marL="0" indent="0">
              <a:buNone/>
            </a:pPr>
            <a:r>
              <a:rPr lang="en-US" sz="1300" dirty="0"/>
              <a:t>    but both still show around </a:t>
            </a:r>
            <a:r>
              <a:rPr lang="en-US" sz="1300" b="1" dirty="0"/>
              <a:t>20–25% negative sentiment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▪  Overall, most departments have a large </a:t>
            </a:r>
            <a:r>
              <a:rPr lang="en-US" sz="1300" b="1" dirty="0"/>
              <a:t>neutral to positive sentiment</a:t>
            </a:r>
            <a:r>
              <a:rPr lang="en-US" sz="1300" dirty="0"/>
              <a:t>,</a:t>
            </a:r>
          </a:p>
          <a:p>
            <a:pPr marL="0" indent="0">
              <a:buNone/>
            </a:pPr>
            <a:r>
              <a:rPr lang="en-US" sz="1300" dirty="0"/>
              <a:t>    but negativity in key functions (Sales, HR) needs attention.</a:t>
            </a:r>
          </a:p>
          <a:p>
            <a:r>
              <a:rPr lang="en-US" sz="1300" b="1" dirty="0"/>
              <a:t>2. Employees by Exit Type and Experience with Organization</a:t>
            </a:r>
          </a:p>
          <a:p>
            <a:r>
              <a:rPr lang="en-US" sz="1300" dirty="0"/>
              <a:t>▪ Employees leaving </a:t>
            </a:r>
            <a:r>
              <a:rPr lang="en-US" sz="1300" b="1" dirty="0"/>
              <a:t>voluntarily</a:t>
            </a:r>
            <a:r>
              <a:rPr lang="en-US" sz="1300" dirty="0"/>
              <a:t> report more </a:t>
            </a:r>
            <a:r>
              <a:rPr lang="en-US" sz="1300" b="1" dirty="0"/>
              <a:t>positive experiences (38%)</a:t>
            </a:r>
            <a:r>
              <a:rPr lang="en-US" sz="1300" dirty="0"/>
              <a:t>, showing they leave for better opportunities rather than dissatisfaction.</a:t>
            </a:r>
            <a:br>
              <a:rPr lang="en-US" sz="1300" dirty="0"/>
            </a:br>
            <a:r>
              <a:rPr lang="en-US" sz="1300" dirty="0"/>
              <a:t>▪ Those with </a:t>
            </a:r>
            <a:r>
              <a:rPr lang="en-US" sz="1300" b="1" dirty="0"/>
              <a:t>involuntary exits</a:t>
            </a:r>
            <a:r>
              <a:rPr lang="en-US" sz="1300" dirty="0"/>
              <a:t> show higher </a:t>
            </a:r>
            <a:r>
              <a:rPr lang="en-US" sz="1300" b="1" dirty="0"/>
              <a:t>negative sentiment (41%)</a:t>
            </a:r>
            <a:r>
              <a:rPr lang="en-US" sz="1300" dirty="0"/>
              <a:t>, indicating performance or management-related issues during exits.</a:t>
            </a:r>
          </a:p>
          <a:p>
            <a:r>
              <a:rPr lang="en-US" sz="1300" b="1" dirty="0"/>
              <a:t>3. Sentiment Distribution (Overall)</a:t>
            </a:r>
          </a:p>
          <a:p>
            <a:r>
              <a:rPr lang="en-US" sz="1300" dirty="0"/>
              <a:t>▪ Overall sentiment distribution: </a:t>
            </a:r>
            <a:r>
              <a:rPr lang="en-US" sz="1300" b="1" dirty="0"/>
              <a:t>32% neutral</a:t>
            </a:r>
            <a:r>
              <a:rPr lang="en-US" sz="1300" dirty="0"/>
              <a:t>, </a:t>
            </a:r>
            <a:r>
              <a:rPr lang="en-US" sz="1300" b="1" dirty="0"/>
              <a:t>23% negative</a:t>
            </a:r>
            <a:r>
              <a:rPr lang="en-US" sz="1300" dirty="0"/>
              <a:t>, </a:t>
            </a:r>
            <a:r>
              <a:rPr lang="en-US" sz="1300" b="1" dirty="0"/>
              <a:t>17% very negative</a:t>
            </a:r>
            <a:r>
              <a:rPr lang="en-US" sz="1300" dirty="0"/>
              <a:t>, and only </a:t>
            </a:r>
            <a:r>
              <a:rPr lang="en-US" sz="1300" b="1" dirty="0"/>
              <a:t>11% very positive</a:t>
            </a:r>
            <a:r>
              <a:rPr lang="en-US" sz="1300" dirty="0"/>
              <a:t>.</a:t>
            </a:r>
            <a:br>
              <a:rPr lang="en-US" sz="1300" dirty="0"/>
            </a:br>
            <a:r>
              <a:rPr lang="en-US" sz="1300" dirty="0"/>
              <a:t>▪ Positive sentiment is present but not dominant — this reflects a workplace with moderate satisfaction and improvement scope in engagement and morale.</a:t>
            </a:r>
          </a:p>
          <a:p>
            <a:pPr marL="0" indent="0">
              <a:buNone/>
            </a:pPr>
            <a:r>
              <a:rPr lang="en-US" sz="1400" dirty="0"/>
              <a:t>       </a:t>
            </a:r>
            <a:r>
              <a:rPr lang="en-US" sz="1400" b="1" dirty="0"/>
              <a:t>Key insights</a:t>
            </a:r>
          </a:p>
          <a:p>
            <a:r>
              <a:rPr lang="en-US" sz="1300" dirty="0"/>
              <a:t>▪ Focus on improving </a:t>
            </a:r>
            <a:r>
              <a:rPr lang="en-US" sz="1300" b="1" dirty="0"/>
              <a:t>work culture and leadership quality</a:t>
            </a:r>
            <a:r>
              <a:rPr lang="en-US" sz="1300" dirty="0"/>
              <a:t> in </a:t>
            </a:r>
            <a:r>
              <a:rPr lang="en-US" sz="1300" b="1" dirty="0"/>
              <a:t>Sales and HR</a:t>
            </a:r>
            <a:r>
              <a:rPr lang="en-US" sz="1300" dirty="0"/>
              <a:t>, where negative sentiment is highest.</a:t>
            </a:r>
            <a:br>
              <a:rPr lang="en-US" sz="1300" dirty="0"/>
            </a:br>
            <a:r>
              <a:rPr lang="en-US" sz="1300" dirty="0"/>
              <a:t>▪ Conduct </a:t>
            </a:r>
            <a:r>
              <a:rPr lang="en-US" sz="1300" b="1" dirty="0"/>
              <a:t>employee engagement and feedback sessions</a:t>
            </a:r>
            <a:r>
              <a:rPr lang="en-US" sz="1300" dirty="0"/>
              <a:t> to identify root causes of dissatisfaction.</a:t>
            </a:r>
            <a:br>
              <a:rPr lang="en-US" sz="1300" dirty="0"/>
            </a:br>
            <a:r>
              <a:rPr lang="en-US" sz="1300" dirty="0"/>
              <a:t>▪ Use </a:t>
            </a:r>
            <a:r>
              <a:rPr lang="en-US" sz="1300" b="1" dirty="0"/>
              <a:t>Finance and Engineering</a:t>
            </a:r>
            <a:r>
              <a:rPr lang="en-US" sz="1300" dirty="0"/>
              <a:t> departments as </a:t>
            </a:r>
            <a:r>
              <a:rPr lang="en-US" sz="1300" b="1" dirty="0"/>
              <a:t>benchmarks</a:t>
            </a:r>
            <a:r>
              <a:rPr lang="en-US" sz="1300" dirty="0"/>
              <a:t> for positive culture practices.</a:t>
            </a:r>
            <a:br>
              <a:rPr lang="en-US" sz="1300" dirty="0"/>
            </a:br>
            <a:r>
              <a:rPr lang="en-US" sz="1300" dirty="0"/>
              <a:t>▪ Provide </a:t>
            </a:r>
            <a:r>
              <a:rPr lang="en-US" sz="1300" b="1" dirty="0"/>
              <a:t>manager training</a:t>
            </a:r>
            <a:r>
              <a:rPr lang="en-US" sz="1300" dirty="0"/>
              <a:t> on handling teams empathetically, especially before involuntary exits.</a:t>
            </a:r>
            <a:br>
              <a:rPr lang="en-US" sz="1300" dirty="0"/>
            </a:br>
            <a:r>
              <a:rPr lang="en-US" sz="1300" dirty="0"/>
              <a:t>▪ Implement a </a:t>
            </a:r>
            <a:r>
              <a:rPr lang="en-US" sz="1300" b="1" dirty="0"/>
              <a:t>recognition and reward program</a:t>
            </a:r>
            <a:r>
              <a:rPr lang="en-US" sz="1300" dirty="0"/>
              <a:t> to boost morale and positivity across departments</a:t>
            </a:r>
            <a:r>
              <a:rPr lang="en-US" sz="1700" dirty="0"/>
              <a:t>.</a:t>
            </a:r>
            <a:endParaRPr lang="en-IN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1A69F-78B1-F195-C16D-06796047C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00" y="691791"/>
            <a:ext cx="5055238" cy="2635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4216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D1CD-EB83-1EEA-2EF4-08DABB7C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93699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/>
              <a:t>Employees status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3C2BF-435F-FBB7-8B18-84F87F8A3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8000"/>
            <a:ext cx="12192000" cy="6349999"/>
          </a:xfrm>
        </p:spPr>
        <p:txBody>
          <a:bodyPr>
            <a:normAutofit/>
          </a:bodyPr>
          <a:lstStyle/>
          <a:p>
            <a:r>
              <a:rPr lang="en-US" sz="1800" b="1" dirty="0"/>
              <a:t>Insights</a:t>
            </a:r>
          </a:p>
          <a:p>
            <a:r>
              <a:rPr lang="en-US" sz="1800" dirty="0"/>
              <a:t>▪ </a:t>
            </a:r>
            <a:r>
              <a:rPr lang="en-US" sz="1800" b="1" dirty="0"/>
              <a:t>Overall workforce:</a:t>
            </a:r>
            <a:r>
              <a:rPr lang="en-US" sz="1800" dirty="0"/>
              <a:t> 59.46% active, 37.66% inactive, and 2.88% on notice - </a:t>
            </a:r>
          </a:p>
          <a:p>
            <a:pPr marL="0" indent="0">
              <a:buNone/>
            </a:pPr>
            <a:r>
              <a:rPr lang="en-US" sz="1800" dirty="0"/>
              <a:t>showing a healthy majority still retained but with a noticeable inactive proportion.</a:t>
            </a:r>
            <a:br>
              <a:rPr lang="en-US" sz="1800" dirty="0"/>
            </a:br>
            <a:r>
              <a:rPr lang="en-US" sz="1800" dirty="0"/>
              <a:t>▪ </a:t>
            </a:r>
            <a:r>
              <a:rPr lang="en-US" sz="1800" b="1" dirty="0"/>
              <a:t>Finance</a:t>
            </a:r>
            <a:r>
              <a:rPr lang="en-US" sz="1800" dirty="0"/>
              <a:t> and </a:t>
            </a:r>
            <a:r>
              <a:rPr lang="en-US" sz="1800" b="1" dirty="0"/>
              <a:t>Marketing</a:t>
            </a:r>
            <a:r>
              <a:rPr lang="en-US" sz="1800" dirty="0"/>
              <a:t> have the </a:t>
            </a:r>
            <a:r>
              <a:rPr lang="en-US" sz="1800" b="1" dirty="0"/>
              <a:t>highest active ratio (64%)</a:t>
            </a:r>
            <a:r>
              <a:rPr lang="en-US" sz="1800" dirty="0"/>
              <a:t>,</a:t>
            </a:r>
          </a:p>
          <a:p>
            <a:pPr marL="0" indent="0">
              <a:buNone/>
            </a:pPr>
            <a:r>
              <a:rPr lang="en-US" sz="1800" dirty="0"/>
              <a:t>showing strong workforce stability.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dirty="0"/>
              <a:t>▪ </a:t>
            </a:r>
            <a:r>
              <a:rPr lang="en-US" sz="1800" b="1" dirty="0"/>
              <a:t>Business Development</a:t>
            </a:r>
            <a:r>
              <a:rPr lang="en-US" sz="1800" dirty="0"/>
              <a:t> has the </a:t>
            </a:r>
            <a:r>
              <a:rPr lang="en-US" sz="1800" b="1" dirty="0"/>
              <a:t>lowest active ratio (51%)</a:t>
            </a:r>
            <a:r>
              <a:rPr lang="en-US" sz="1800" dirty="0"/>
              <a:t> and </a:t>
            </a:r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highest inactive rate (46%)</a:t>
            </a:r>
            <a:r>
              <a:rPr lang="en-US" sz="1800" dirty="0"/>
              <a:t>, </a:t>
            </a:r>
            <a:r>
              <a:rPr lang="en-US" sz="1800" dirty="0" err="1"/>
              <a:t>signalling</a:t>
            </a:r>
            <a:r>
              <a:rPr lang="en-US" sz="1800" dirty="0"/>
              <a:t> high turnover or project instability.</a:t>
            </a:r>
            <a:br>
              <a:rPr lang="en-US" sz="1800" dirty="0"/>
            </a:br>
            <a:r>
              <a:rPr lang="en-US" sz="1800" dirty="0"/>
              <a:t>▪ </a:t>
            </a:r>
            <a:r>
              <a:rPr lang="en-US" sz="1800" b="1" dirty="0"/>
              <a:t>HR</a:t>
            </a:r>
            <a:r>
              <a:rPr lang="en-US" sz="1800" dirty="0"/>
              <a:t> also shows higher inactive employees (≈40%), </a:t>
            </a:r>
          </a:p>
          <a:p>
            <a:pPr marL="0" indent="0">
              <a:buNone/>
            </a:pPr>
            <a:r>
              <a:rPr lang="en-US" sz="1800" dirty="0"/>
              <a:t>which might affect internal operations and hiring efficiency.</a:t>
            </a:r>
            <a:br>
              <a:rPr lang="en-US" sz="1800" dirty="0"/>
            </a:br>
            <a:r>
              <a:rPr lang="en-US" sz="1800" dirty="0"/>
              <a:t>▪ </a:t>
            </a:r>
            <a:r>
              <a:rPr lang="en-US" sz="1800" b="1" dirty="0"/>
              <a:t>By country</a:t>
            </a:r>
            <a:r>
              <a:rPr lang="en-US" sz="1800" dirty="0"/>
              <a:t>, the </a:t>
            </a:r>
            <a:r>
              <a:rPr lang="en-US" sz="1800" b="1" dirty="0"/>
              <a:t>US and Singapore</a:t>
            </a:r>
            <a:r>
              <a:rPr lang="en-US" sz="1800" dirty="0"/>
              <a:t> have the largest employee bases, </a:t>
            </a:r>
          </a:p>
          <a:p>
            <a:pPr marL="0" indent="0">
              <a:buNone/>
            </a:pPr>
            <a:r>
              <a:rPr lang="en-US" sz="1800" dirty="0"/>
              <a:t>while </a:t>
            </a:r>
            <a:r>
              <a:rPr lang="en-US" sz="1800" b="1" dirty="0"/>
              <a:t>India and UAE</a:t>
            </a:r>
            <a:r>
              <a:rPr lang="en-US" sz="1800" dirty="0"/>
              <a:t> maintain relatively high active-to-inactive balance.</a:t>
            </a:r>
          </a:p>
          <a:p>
            <a:r>
              <a:rPr lang="en-US" sz="1800" b="1" dirty="0"/>
              <a:t>Suggestions</a:t>
            </a:r>
          </a:p>
          <a:p>
            <a:r>
              <a:rPr lang="en-US" sz="1800" dirty="0"/>
              <a:t>▪ </a:t>
            </a:r>
            <a:r>
              <a:rPr lang="en-US" sz="1800" b="1" dirty="0"/>
              <a:t>Focus retention efforts on Business Development and HR</a:t>
            </a:r>
            <a:r>
              <a:rPr lang="en-US" sz="1800" dirty="0"/>
              <a:t>, where inactivity and turnover are high.</a:t>
            </a:r>
            <a:br>
              <a:rPr lang="en-US" sz="1800" dirty="0"/>
            </a:br>
            <a:r>
              <a:rPr lang="en-US" sz="1800" dirty="0"/>
              <a:t>▪ Conduct </a:t>
            </a:r>
            <a:r>
              <a:rPr lang="en-US" sz="1800" b="1" dirty="0"/>
              <a:t>exit and engagement analysis</a:t>
            </a:r>
            <a:r>
              <a:rPr lang="en-US" sz="1800" dirty="0"/>
              <a:t> to identify reasons behind high attrition in specific departments.</a:t>
            </a:r>
            <a:br>
              <a:rPr lang="en-US" sz="1800" dirty="0"/>
            </a:br>
            <a:r>
              <a:rPr lang="en-US" sz="1800" dirty="0"/>
              <a:t>▪ Maintain </a:t>
            </a:r>
            <a:r>
              <a:rPr lang="en-US" sz="1800" b="1" dirty="0"/>
              <a:t>best practices from Finance and Marketing</a:t>
            </a:r>
            <a:r>
              <a:rPr lang="en-US" sz="1800" dirty="0"/>
              <a:t>, where employee stability is strongest.</a:t>
            </a:r>
            <a:br>
              <a:rPr lang="en-US" sz="1800" dirty="0"/>
            </a:br>
            <a:r>
              <a:rPr lang="en-US" sz="1800" dirty="0"/>
              <a:t>▪ Strengthen </a:t>
            </a:r>
            <a:r>
              <a:rPr lang="en-US" sz="1800" b="1" dirty="0"/>
              <a:t>career growth and incentive programs</a:t>
            </a:r>
            <a:r>
              <a:rPr lang="en-US" sz="1800" dirty="0"/>
              <a:t> to convert “on notice” employees into long-term retainers.</a:t>
            </a:r>
            <a:br>
              <a:rPr lang="en-US" sz="1800" dirty="0"/>
            </a:br>
            <a:r>
              <a:rPr lang="en-US" sz="1800" dirty="0"/>
              <a:t>▪ Monitor </a:t>
            </a:r>
            <a:r>
              <a:rPr lang="en-US" sz="1800" b="1" dirty="0"/>
              <a:t>active–inactive trends quarterly</a:t>
            </a:r>
            <a:r>
              <a:rPr lang="en-US" sz="1800" dirty="0"/>
              <a:t> to detect emerging workforce risks early.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50E28-3921-37B6-9482-C82F601CB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300" y="801328"/>
            <a:ext cx="4075743" cy="24879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0312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166E-A876-0AD6-0D1A-A947C031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4609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/>
              <a:t>Joining Vs Exiting pattern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3F89E-062F-4ED1-CC1D-F7E4547D9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5000"/>
            <a:ext cx="12192000" cy="6222999"/>
          </a:xfrm>
        </p:spPr>
        <p:txBody>
          <a:bodyPr>
            <a:normAutofit/>
          </a:bodyPr>
          <a:lstStyle/>
          <a:p>
            <a:r>
              <a:rPr lang="en-US" sz="1200" b="1" dirty="0"/>
              <a:t>Insights</a:t>
            </a:r>
          </a:p>
          <a:p>
            <a:r>
              <a:rPr lang="en-US" sz="1200" dirty="0"/>
              <a:t>▪ From </a:t>
            </a:r>
            <a:r>
              <a:rPr lang="en-US" sz="1200" b="1" dirty="0"/>
              <a:t>2016–2021</a:t>
            </a:r>
            <a:r>
              <a:rPr lang="en-US" sz="1200" dirty="0"/>
              <a:t>, hiring consistently exceeded exits, showing strong workforce growth and stability.</a:t>
            </a:r>
            <a:br>
              <a:rPr lang="en-US" sz="1200" dirty="0"/>
            </a:br>
            <a:r>
              <a:rPr lang="en-US" sz="1200" dirty="0"/>
              <a:t>▪ Starting </a:t>
            </a:r>
            <a:r>
              <a:rPr lang="en-US" sz="1200" b="1" dirty="0"/>
              <a:t>2022</a:t>
            </a:r>
            <a:r>
              <a:rPr lang="en-US" sz="1200" dirty="0"/>
              <a:t>, exits began rising steadily, </a:t>
            </a:r>
          </a:p>
          <a:p>
            <a:r>
              <a:rPr lang="en-US" sz="1200" dirty="0"/>
              <a:t>and by </a:t>
            </a:r>
            <a:r>
              <a:rPr lang="en-US" sz="1200" b="1" dirty="0"/>
              <a:t>2025</a:t>
            </a:r>
            <a:r>
              <a:rPr lang="en-US" sz="1200" dirty="0"/>
              <a:t>,exits (135) surpassed joins (96), indicating a clear </a:t>
            </a:r>
            <a:r>
              <a:rPr lang="en-US" sz="1200" b="1" dirty="0"/>
              <a:t>retention crisis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▪ </a:t>
            </a:r>
            <a:r>
              <a:rPr lang="en-US" sz="1200" b="1" dirty="0"/>
              <a:t>Q4 (Nov–Dec)</a:t>
            </a:r>
            <a:r>
              <a:rPr lang="en-US" sz="1200" dirty="0"/>
              <a:t> repeatedly shows the </a:t>
            </a:r>
            <a:r>
              <a:rPr lang="en-US" sz="1200" b="1" dirty="0"/>
              <a:t>highest exits every year</a:t>
            </a:r>
            <a:r>
              <a:rPr lang="en-US" sz="1200" dirty="0"/>
              <a:t>, </a:t>
            </a:r>
          </a:p>
          <a:p>
            <a:pPr marL="0" indent="0">
              <a:buNone/>
            </a:pPr>
            <a:r>
              <a:rPr lang="en-US" sz="1200" dirty="0"/>
              <a:t>       revealing a recurring </a:t>
            </a:r>
            <a:r>
              <a:rPr lang="en-US" sz="1200" b="1" dirty="0"/>
              <a:t>year-end attrition pattern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       ▪ </a:t>
            </a:r>
            <a:r>
              <a:rPr lang="en-US" sz="1200" b="1" dirty="0"/>
              <a:t>Client Service, HR, and Business Development</a:t>
            </a:r>
            <a:r>
              <a:rPr lang="en-US" sz="1200" dirty="0"/>
              <a:t> departments face the </a:t>
            </a:r>
            <a:r>
              <a:rPr lang="en-US" sz="1200" b="1" dirty="0"/>
              <a:t>highest turnover</a:t>
            </a:r>
            <a:r>
              <a:rPr lang="en-US" sz="1200" dirty="0"/>
              <a:t>,</a:t>
            </a:r>
          </a:p>
          <a:p>
            <a:pPr marL="0" indent="0">
              <a:buNone/>
            </a:pPr>
            <a:r>
              <a:rPr lang="en-US" sz="1200" dirty="0"/>
              <a:t>        suggesting cultural or workload-related issues.</a:t>
            </a:r>
            <a:br>
              <a:rPr lang="en-US" sz="1200" dirty="0"/>
            </a:br>
            <a:r>
              <a:rPr lang="en-US" sz="1200" dirty="0"/>
              <a:t>▪      </a:t>
            </a:r>
            <a:r>
              <a:rPr lang="en-US" sz="1200" b="1" dirty="0"/>
              <a:t>Finance and HR</a:t>
            </a:r>
            <a:r>
              <a:rPr lang="en-US" sz="1200" dirty="0"/>
              <a:t>, once stable, showed a </a:t>
            </a:r>
            <a:r>
              <a:rPr lang="en-US" sz="1200" b="1" dirty="0"/>
              <a:t>sharp rise in exits post-2023</a:t>
            </a:r>
            <a:r>
              <a:rPr lang="en-US" sz="1200" dirty="0"/>
              <a:t>,</a:t>
            </a:r>
          </a:p>
          <a:p>
            <a:pPr marL="0" indent="0">
              <a:buNone/>
            </a:pPr>
            <a:r>
              <a:rPr lang="en-US" sz="1200" dirty="0"/>
              <a:t>        pointing to internal dissatisfaction even in support roles.</a:t>
            </a:r>
            <a:br>
              <a:rPr lang="en-US" sz="1200" dirty="0"/>
            </a:br>
            <a:r>
              <a:rPr lang="en-US" sz="1200" dirty="0"/>
              <a:t>▪    </a:t>
            </a:r>
            <a:r>
              <a:rPr lang="en-US" sz="1200" b="1" dirty="0"/>
              <a:t>Net hiring trend turned negative in 2025</a:t>
            </a:r>
            <a:r>
              <a:rPr lang="en-US" sz="1200" dirty="0"/>
              <a:t>, marking a shift from expansion to contraction phase.</a:t>
            </a:r>
            <a:br>
              <a:rPr lang="en-US" sz="1200" dirty="0"/>
            </a:br>
            <a:r>
              <a:rPr lang="en-US" sz="1200" dirty="0"/>
              <a:t>▪     The overall trend highlights a </a:t>
            </a:r>
            <a:r>
              <a:rPr lang="en-US" sz="1200" b="1" dirty="0"/>
              <a:t>post-pandemic decline in retention and engagement</a:t>
            </a:r>
            <a:r>
              <a:rPr lang="en-US" sz="1200" dirty="0"/>
              <a:t>,</a:t>
            </a:r>
          </a:p>
          <a:p>
            <a:pPr marL="0" indent="0">
              <a:buNone/>
            </a:pPr>
            <a:r>
              <a:rPr lang="en-US" sz="1200" dirty="0"/>
              <a:t>      requiring urgent attention.</a:t>
            </a:r>
          </a:p>
          <a:p>
            <a:pPr marL="0" indent="0">
              <a:buNone/>
            </a:pPr>
            <a:r>
              <a:rPr lang="en-IN" sz="1200" b="1" dirty="0"/>
              <a:t>suggestions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▪ </a:t>
            </a:r>
            <a:r>
              <a:rPr lang="en-US" sz="1200" b="1" dirty="0" err="1"/>
              <a:t>Prioritise</a:t>
            </a:r>
            <a:r>
              <a:rPr lang="en-US" sz="1200" b="1" dirty="0"/>
              <a:t> retention</a:t>
            </a:r>
            <a:r>
              <a:rPr lang="en-US" sz="1200" dirty="0"/>
              <a:t> — focus on keeping existing talent before scaling new hiring.</a:t>
            </a:r>
            <a:br>
              <a:rPr lang="en-US" sz="1200" dirty="0"/>
            </a:br>
            <a:r>
              <a:rPr lang="en-US" sz="1200" dirty="0"/>
              <a:t>▪ Conduct </a:t>
            </a:r>
            <a:r>
              <a:rPr lang="en-US" sz="1200" b="1" dirty="0"/>
              <a:t>root cause analysis</a:t>
            </a:r>
            <a:r>
              <a:rPr lang="en-US" sz="1200" dirty="0"/>
              <a:t> for rising attrition in </a:t>
            </a:r>
            <a:r>
              <a:rPr lang="en-US" sz="1200" b="1" dirty="0"/>
              <a:t>HR, Finance, and Client Service</a:t>
            </a:r>
            <a:r>
              <a:rPr lang="en-US" sz="1200" dirty="0"/>
              <a:t> departments.</a:t>
            </a:r>
            <a:br>
              <a:rPr lang="en-US" sz="1200" dirty="0"/>
            </a:br>
            <a:r>
              <a:rPr lang="en-US" sz="1200" dirty="0"/>
              <a:t>▪ Launch </a:t>
            </a:r>
            <a:r>
              <a:rPr lang="en-US" sz="1200" b="1" dirty="0"/>
              <a:t>employee engagement and recognition programs</a:t>
            </a:r>
            <a:r>
              <a:rPr lang="en-US" sz="1200" dirty="0"/>
              <a:t> before </a:t>
            </a:r>
            <a:r>
              <a:rPr lang="en-US" sz="1200" b="1" dirty="0"/>
              <a:t>Q4</a:t>
            </a:r>
            <a:r>
              <a:rPr lang="en-US" sz="1200" dirty="0"/>
              <a:t> to reduce year-end exits.</a:t>
            </a:r>
            <a:br>
              <a:rPr lang="en-US" sz="1200" dirty="0"/>
            </a:br>
            <a:r>
              <a:rPr lang="en-US" sz="1200" dirty="0"/>
              <a:t>▪ Strengthen </a:t>
            </a:r>
            <a:r>
              <a:rPr lang="en-US" sz="1200" b="1" dirty="0"/>
              <a:t>career growth, training, and internal mobility</a:t>
            </a:r>
            <a:r>
              <a:rPr lang="en-US" sz="1200" dirty="0"/>
              <a:t> to retain mid-level employees.</a:t>
            </a:r>
            <a:br>
              <a:rPr lang="en-US" sz="1200" dirty="0"/>
            </a:br>
            <a:r>
              <a:rPr lang="en-US" sz="1200" dirty="0"/>
              <a:t>▪ Use </a:t>
            </a:r>
            <a:r>
              <a:rPr lang="en-US" sz="1200" b="1" dirty="0"/>
              <a:t>predictive analytics</a:t>
            </a:r>
            <a:r>
              <a:rPr lang="en-US" sz="1200" dirty="0"/>
              <a:t> in Power BI to identify and address early attrition signals.</a:t>
            </a:r>
            <a:br>
              <a:rPr lang="en-US" sz="1200" dirty="0"/>
            </a:br>
            <a:r>
              <a:rPr lang="en-US" sz="1200" dirty="0"/>
              <a:t>▪ Balance hiring throughout the year instead of clustered recruitment in mid-year months.</a:t>
            </a:r>
            <a:br>
              <a:rPr lang="en-US" sz="1200" dirty="0"/>
            </a:br>
            <a:r>
              <a:rPr lang="en-US" sz="1200" dirty="0"/>
              <a:t>▪ Improve </a:t>
            </a:r>
            <a:r>
              <a:rPr lang="en-US" sz="1200" b="1" dirty="0"/>
              <a:t>managerial feedback, workload balance, and communication</a:t>
            </a:r>
            <a:r>
              <a:rPr lang="en-US" sz="1200" dirty="0"/>
              <a:t> to rebuild employee trust and morale</a:t>
            </a:r>
            <a:r>
              <a:rPr lang="en-US" sz="1600" dirty="0"/>
              <a:t>.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A3C6E-0858-DDF3-253A-69089E2D6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378" y="842601"/>
            <a:ext cx="4585122" cy="2700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4402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2C28-2647-96CF-2E47-537AC8010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6100" y="2900362"/>
            <a:ext cx="3479800" cy="1057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Thankyou 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54154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2847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Segoe UI Light</vt:lpstr>
      <vt:lpstr>Office Theme</vt:lpstr>
      <vt:lpstr>HR Analytics Assignment</vt:lpstr>
      <vt:lpstr>Overview</vt:lpstr>
      <vt:lpstr>Objective</vt:lpstr>
      <vt:lpstr>Data Analysis Points </vt:lpstr>
      <vt:lpstr>Attrition Analysis</vt:lpstr>
      <vt:lpstr>Performance rating distribution</vt:lpstr>
      <vt:lpstr>Promotion impact analysis</vt:lpstr>
      <vt:lpstr>Exit Reason breakdown</vt:lpstr>
      <vt:lpstr>Manager wise exit feedback</vt:lpstr>
      <vt:lpstr>Country Wise Workforce Comparison</vt:lpstr>
      <vt:lpstr>Tenure Vs Performance</vt:lpstr>
      <vt:lpstr>Organizational culture sentiment</vt:lpstr>
      <vt:lpstr>Employees status Distribution</vt:lpstr>
      <vt:lpstr>Joining Vs Exiting pattern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DHASMANA</dc:creator>
  <cp:lastModifiedBy>NIKHIL DHASMANA</cp:lastModifiedBy>
  <cp:revision>2</cp:revision>
  <dcterms:created xsi:type="dcterms:W3CDTF">2025-11-09T22:07:37Z</dcterms:created>
  <dcterms:modified xsi:type="dcterms:W3CDTF">2025-11-10T02:53:51Z</dcterms:modified>
</cp:coreProperties>
</file>